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iJgCLJ26WHqIN8b8Vv+ld9n70R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96A98C3-E651-48E6-B59C-8FCAB6477369}">
  <a:tblStyle styleId="{E96A98C3-E651-48E6-B59C-8FCAB647736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21.png"/><Relationship Id="rId7" Type="http://schemas.openxmlformats.org/officeDocument/2006/relationships/image" Target="../media/image2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11" Type="http://schemas.openxmlformats.org/officeDocument/2006/relationships/image" Target="../media/image22.png"/><Relationship Id="rId10" Type="http://schemas.openxmlformats.org/officeDocument/2006/relationships/image" Target="../media/image7.png"/><Relationship Id="rId12" Type="http://schemas.openxmlformats.org/officeDocument/2006/relationships/image" Target="../media/image15.png"/><Relationship Id="rId9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3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hyperlink" Target="http://drive.google.com/file/d/1bYx9lzp-qQ2UTOTjGFxSBuInTuWDuNoC/view" TargetMode="External"/><Relationship Id="rId7" Type="http://schemas.openxmlformats.org/officeDocument/2006/relationships/image" Target="../media/image2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Relationship Id="rId4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Relationship Id="rId4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20" Type="http://schemas.openxmlformats.org/officeDocument/2006/relationships/hyperlink" Target="https://www.figma.com" TargetMode="External"/><Relationship Id="rId11" Type="http://schemas.openxmlformats.org/officeDocument/2006/relationships/hyperlink" Target="https://angular.io/docs" TargetMode="External"/><Relationship Id="rId10" Type="http://schemas.openxmlformats.org/officeDocument/2006/relationships/hyperlink" Target="https://ionicframework.com/docs" TargetMode="External"/><Relationship Id="rId13" Type="http://schemas.openxmlformats.org/officeDocument/2006/relationships/hyperlink" Target="https://expressjs.com/es/" TargetMode="External"/><Relationship Id="rId12" Type="http://schemas.openxmlformats.org/officeDocument/2006/relationships/hyperlink" Target="https://nodejs.org/en/docs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9" Type="http://schemas.openxmlformats.org/officeDocument/2006/relationships/hyperlink" Target="https://cloud.google.com/docs" TargetMode="External"/><Relationship Id="rId15" Type="http://schemas.openxmlformats.org/officeDocument/2006/relationships/hyperlink" Target="https://scrumguides.org" TargetMode="External"/><Relationship Id="rId14" Type="http://schemas.openxmlformats.org/officeDocument/2006/relationships/hyperlink" Target="https://www.postgresql.org/docs/" TargetMode="External"/><Relationship Id="rId17" Type="http://schemas.openxmlformats.org/officeDocument/2006/relationships/hyperlink" Target="https://docs.github.com/es" TargetMode="External"/><Relationship Id="rId16" Type="http://schemas.openxmlformats.org/officeDocument/2006/relationships/hyperlink" Target="https://trello.com/guide" TargetMode="External"/><Relationship Id="rId5" Type="http://schemas.openxmlformats.org/officeDocument/2006/relationships/image" Target="../media/image3.png"/><Relationship Id="rId19" Type="http://schemas.openxmlformats.org/officeDocument/2006/relationships/hyperlink" Target="https://www.figma.com" TargetMode="External"/><Relationship Id="rId6" Type="http://schemas.openxmlformats.org/officeDocument/2006/relationships/hyperlink" Target="https://www.economia.gob.cl" TargetMode="External"/><Relationship Id="rId18" Type="http://schemas.openxmlformats.org/officeDocument/2006/relationships/hyperlink" Target="https://www.canva.com" TargetMode="External"/><Relationship Id="rId7" Type="http://schemas.openxmlformats.org/officeDocument/2006/relationships/hyperlink" Target="https://www.dt.gob.cl" TargetMode="External"/><Relationship Id="rId8" Type="http://schemas.openxmlformats.org/officeDocument/2006/relationships/hyperlink" Target="https://www.sii.c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360"/>
            <a:ext cx="18285714" cy="10285763"/>
          </a:xfrm>
          <a:custGeom>
            <a:rect b="b" l="l" r="r" t="t"/>
            <a:pathLst>
              <a:path extrusionOk="0" h="13714349" w="24380952">
                <a:moveTo>
                  <a:pt x="0" y="0"/>
                </a:moveTo>
                <a:lnTo>
                  <a:pt x="24380952" y="0"/>
                </a:lnTo>
                <a:lnTo>
                  <a:pt x="24380952" y="13714349"/>
                </a:lnTo>
                <a:lnTo>
                  <a:pt x="0" y="13714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2581423" y="8603574"/>
            <a:ext cx="8040719" cy="9525"/>
          </a:xfrm>
          <a:custGeom>
            <a:rect b="b" l="l" r="r" t="t"/>
            <a:pathLst>
              <a:path extrusionOk="0" h="12700" w="10720959">
                <a:moveTo>
                  <a:pt x="0" y="0"/>
                </a:moveTo>
                <a:lnTo>
                  <a:pt x="10720959" y="0"/>
                </a:lnTo>
                <a:lnTo>
                  <a:pt x="10720959" y="12700"/>
                </a:lnTo>
                <a:lnTo>
                  <a:pt x="0" y="12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6" name="Google Shape;86;p1"/>
          <p:cNvSpPr txBox="1"/>
          <p:nvPr/>
        </p:nvSpPr>
        <p:spPr>
          <a:xfrm>
            <a:off x="799035" y="8117196"/>
            <a:ext cx="107664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Presentación Etapa 3 Proyecto Capstone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2627835" y="8668106"/>
            <a:ext cx="83115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4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Portafolio de Título Ingeniería en Informática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-5775" y="596752"/>
            <a:ext cx="2040446" cy="964120"/>
          </a:xfrm>
          <a:custGeom>
            <a:rect b="b" l="l" r="r" t="t"/>
            <a:pathLst>
              <a:path extrusionOk="0" h="1285494" w="2720594">
                <a:moveTo>
                  <a:pt x="2720594" y="0"/>
                </a:moveTo>
                <a:lnTo>
                  <a:pt x="0" y="0"/>
                </a:lnTo>
                <a:lnTo>
                  <a:pt x="0" y="1285494"/>
                </a:lnTo>
                <a:lnTo>
                  <a:pt x="2720594" y="1285494"/>
                </a:lnTo>
                <a:lnTo>
                  <a:pt x="2720594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93" name="Google Shape;93;p2"/>
          <p:cNvSpPr/>
          <p:nvPr/>
        </p:nvSpPr>
        <p:spPr>
          <a:xfrm>
            <a:off x="15405859" y="9279220"/>
            <a:ext cx="1433470" cy="464925"/>
          </a:xfrm>
          <a:custGeom>
            <a:rect b="b" l="l" r="r" t="t"/>
            <a:pathLst>
              <a:path extrusionOk="0" h="464925" w="1433470">
                <a:moveTo>
                  <a:pt x="0" y="0"/>
                </a:moveTo>
                <a:lnTo>
                  <a:pt x="1433470" y="0"/>
                </a:lnTo>
                <a:lnTo>
                  <a:pt x="1433470" y="464925"/>
                </a:lnTo>
                <a:lnTo>
                  <a:pt x="0" y="4649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2"/>
          <p:cNvSpPr/>
          <p:nvPr/>
        </p:nvSpPr>
        <p:spPr>
          <a:xfrm>
            <a:off x="16938511" y="9318328"/>
            <a:ext cx="343853" cy="427386"/>
          </a:xfrm>
          <a:custGeom>
            <a:rect b="b" l="l" r="r" t="t"/>
            <a:pathLst>
              <a:path extrusionOk="0" h="569849" w="458470">
                <a:moveTo>
                  <a:pt x="458343" y="0"/>
                </a:moveTo>
                <a:lnTo>
                  <a:pt x="331851" y="0"/>
                </a:lnTo>
                <a:lnTo>
                  <a:pt x="331851" y="322707"/>
                </a:lnTo>
                <a:lnTo>
                  <a:pt x="325120" y="387223"/>
                </a:lnTo>
                <a:lnTo>
                  <a:pt x="305308" y="432689"/>
                </a:lnTo>
                <a:lnTo>
                  <a:pt x="272923" y="459486"/>
                </a:lnTo>
                <a:lnTo>
                  <a:pt x="228727" y="468249"/>
                </a:lnTo>
                <a:lnTo>
                  <a:pt x="185547" y="459105"/>
                </a:lnTo>
                <a:lnTo>
                  <a:pt x="153670" y="431673"/>
                </a:lnTo>
                <a:lnTo>
                  <a:pt x="133985" y="386207"/>
                </a:lnTo>
                <a:lnTo>
                  <a:pt x="127254" y="322707"/>
                </a:lnTo>
                <a:lnTo>
                  <a:pt x="127254" y="0"/>
                </a:lnTo>
                <a:lnTo>
                  <a:pt x="0" y="0"/>
                </a:lnTo>
                <a:lnTo>
                  <a:pt x="0" y="312801"/>
                </a:lnTo>
                <a:lnTo>
                  <a:pt x="5080" y="383413"/>
                </a:lnTo>
                <a:lnTo>
                  <a:pt x="19812" y="441960"/>
                </a:lnTo>
                <a:lnTo>
                  <a:pt x="43942" y="489077"/>
                </a:lnTo>
                <a:lnTo>
                  <a:pt x="76962" y="525018"/>
                </a:lnTo>
                <a:lnTo>
                  <a:pt x="118364" y="550164"/>
                </a:lnTo>
                <a:lnTo>
                  <a:pt x="167767" y="565023"/>
                </a:lnTo>
                <a:lnTo>
                  <a:pt x="224790" y="569849"/>
                </a:lnTo>
                <a:lnTo>
                  <a:pt x="283845" y="564769"/>
                </a:lnTo>
                <a:lnTo>
                  <a:pt x="335153" y="549529"/>
                </a:lnTo>
                <a:lnTo>
                  <a:pt x="378206" y="523875"/>
                </a:lnTo>
                <a:lnTo>
                  <a:pt x="412623" y="487680"/>
                </a:lnTo>
                <a:lnTo>
                  <a:pt x="437769" y="440817"/>
                </a:lnTo>
                <a:lnTo>
                  <a:pt x="453263" y="383159"/>
                </a:lnTo>
                <a:lnTo>
                  <a:pt x="458470" y="314579"/>
                </a:lnTo>
                <a:lnTo>
                  <a:pt x="4584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95" name="Google Shape;95;p2"/>
          <p:cNvSpPr/>
          <p:nvPr/>
        </p:nvSpPr>
        <p:spPr>
          <a:xfrm>
            <a:off x="17329950" y="9311467"/>
            <a:ext cx="333244" cy="434315"/>
          </a:xfrm>
          <a:custGeom>
            <a:rect b="b" l="l" r="r" t="t"/>
            <a:pathLst>
              <a:path extrusionOk="0" h="434315" w="333244">
                <a:moveTo>
                  <a:pt x="0" y="0"/>
                </a:moveTo>
                <a:lnTo>
                  <a:pt x="333244" y="0"/>
                </a:lnTo>
                <a:lnTo>
                  <a:pt x="333244" y="434315"/>
                </a:lnTo>
                <a:lnTo>
                  <a:pt x="0" y="4343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p2"/>
          <p:cNvSpPr/>
          <p:nvPr/>
        </p:nvSpPr>
        <p:spPr>
          <a:xfrm>
            <a:off x="17616190" y="9202268"/>
            <a:ext cx="102108" cy="102108"/>
          </a:xfrm>
          <a:custGeom>
            <a:rect b="b" l="l" r="r" t="t"/>
            <a:pathLst>
              <a:path extrusionOk="0" h="136144" w="136144">
                <a:moveTo>
                  <a:pt x="0" y="0"/>
                </a:moveTo>
                <a:lnTo>
                  <a:pt x="136144" y="0"/>
                </a:lnTo>
                <a:lnTo>
                  <a:pt x="136144" y="136144"/>
                </a:lnTo>
                <a:lnTo>
                  <a:pt x="0" y="136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8" l="0" r="-28" t="0"/>
            </a:stretch>
          </a:blipFill>
          <a:ln>
            <a:noFill/>
          </a:ln>
        </p:spPr>
      </p:sp>
      <p:sp>
        <p:nvSpPr>
          <p:cNvPr id="97" name="Google Shape;97;p2"/>
          <p:cNvSpPr txBox="1"/>
          <p:nvPr/>
        </p:nvSpPr>
        <p:spPr>
          <a:xfrm>
            <a:off x="2349204" y="801143"/>
            <a:ext cx="169884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000000"/>
                </a:solidFill>
              </a:rPr>
              <a:t>Integrantes Equipo de Trabajo​</a:t>
            </a:r>
            <a:endParaRPr b="1" sz="4800">
              <a:solidFill>
                <a:srgbClr val="000000"/>
              </a:solidFill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3040672" y="5380344"/>
            <a:ext cx="30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CRISTOBAL AMPUERO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13405722" y="7329899"/>
            <a:ext cx="30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TOMAS BUSTOS</a:t>
            </a:r>
            <a:endParaRPr/>
          </a:p>
        </p:txBody>
      </p:sp>
      <p:pic>
        <p:nvPicPr>
          <p:cNvPr id="100" name="Google Shape;100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295925" y="1991549"/>
            <a:ext cx="3221400" cy="51609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1" name="Google Shape;101;p2" title="IMG_0615.jpg"/>
          <p:cNvPicPr preferRelativeResize="0"/>
          <p:nvPr/>
        </p:nvPicPr>
        <p:blipFill rotWithShape="1">
          <a:blip r:embed="rId7">
            <a:alphaModFix/>
          </a:blip>
          <a:srcRect b="34491" l="0" r="0" t="-2375"/>
          <a:stretch/>
        </p:blipFill>
        <p:spPr>
          <a:xfrm>
            <a:off x="2060888" y="2169000"/>
            <a:ext cx="4460100" cy="5160900"/>
          </a:xfrm>
          <a:prstGeom prst="flowChartConnector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2" name="Google Shape;102;p2"/>
          <p:cNvSpPr/>
          <p:nvPr/>
        </p:nvSpPr>
        <p:spPr>
          <a:xfrm>
            <a:off x="2675622" y="7507649"/>
            <a:ext cx="30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CRISTOBAL AMPUERO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/>
          <p:nvPr/>
        </p:nvSpPr>
        <p:spPr>
          <a:xfrm>
            <a:off x="0" y="360"/>
            <a:ext cx="18285714" cy="10285763"/>
          </a:xfrm>
          <a:custGeom>
            <a:rect b="b" l="l" r="r" t="t"/>
            <a:pathLst>
              <a:path extrusionOk="0" h="13714349" w="24380952">
                <a:moveTo>
                  <a:pt x="0" y="0"/>
                </a:moveTo>
                <a:lnTo>
                  <a:pt x="24380952" y="0"/>
                </a:lnTo>
                <a:lnTo>
                  <a:pt x="24380952" y="13714349"/>
                </a:lnTo>
                <a:lnTo>
                  <a:pt x="0" y="13714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3"/>
          <p:cNvSpPr/>
          <p:nvPr/>
        </p:nvSpPr>
        <p:spPr>
          <a:xfrm>
            <a:off x="0" y="3038"/>
            <a:ext cx="18289904" cy="10282715"/>
          </a:xfrm>
          <a:custGeom>
            <a:rect b="b" l="l" r="r" t="t"/>
            <a:pathLst>
              <a:path extrusionOk="0" h="13710286" w="24386539">
                <a:moveTo>
                  <a:pt x="0" y="0"/>
                </a:moveTo>
                <a:lnTo>
                  <a:pt x="24386539" y="0"/>
                </a:lnTo>
                <a:lnTo>
                  <a:pt x="24386539" y="13710286"/>
                </a:lnTo>
                <a:lnTo>
                  <a:pt x="0" y="137102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3"/>
          <p:cNvSpPr/>
          <p:nvPr/>
        </p:nvSpPr>
        <p:spPr>
          <a:xfrm>
            <a:off x="687280" y="5697493"/>
            <a:ext cx="8997411" cy="2079212"/>
          </a:xfrm>
          <a:custGeom>
            <a:rect b="b" l="l" r="r" t="t"/>
            <a:pathLst>
              <a:path extrusionOk="0" h="2772283" w="11996547">
                <a:moveTo>
                  <a:pt x="0" y="0"/>
                </a:moveTo>
                <a:lnTo>
                  <a:pt x="11996547" y="0"/>
                </a:lnTo>
                <a:lnTo>
                  <a:pt x="11996547" y="2772283"/>
                </a:lnTo>
                <a:lnTo>
                  <a:pt x="0" y="2772283"/>
                </a:lnTo>
                <a:close/>
              </a:path>
            </a:pathLst>
          </a:custGeom>
          <a:solidFill>
            <a:srgbClr val="000000">
              <a:alpha val="34509"/>
            </a:srgbClr>
          </a:solidFill>
          <a:ln>
            <a:noFill/>
          </a:ln>
        </p:spPr>
      </p:sp>
      <p:sp>
        <p:nvSpPr>
          <p:cNvPr id="110" name="Google Shape;110;p3"/>
          <p:cNvSpPr txBox="1"/>
          <p:nvPr/>
        </p:nvSpPr>
        <p:spPr>
          <a:xfrm>
            <a:off x="1796169" y="6302193"/>
            <a:ext cx="7554304" cy="1363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65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PROYECTO 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65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CAPSTONE_RH DIGITAL 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/>
          <p:nvPr/>
        </p:nvSpPr>
        <p:spPr>
          <a:xfrm>
            <a:off x="661429" y="9279220"/>
            <a:ext cx="1433470" cy="464925"/>
          </a:xfrm>
          <a:custGeom>
            <a:rect b="b" l="l" r="r" t="t"/>
            <a:pathLst>
              <a:path extrusionOk="0" h="464925" w="1433470">
                <a:moveTo>
                  <a:pt x="0" y="0"/>
                </a:moveTo>
                <a:lnTo>
                  <a:pt x="1433469" y="0"/>
                </a:lnTo>
                <a:lnTo>
                  <a:pt x="1433469" y="464925"/>
                </a:lnTo>
                <a:lnTo>
                  <a:pt x="0" y="4649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6" name="Google Shape;116;p5"/>
          <p:cNvSpPr/>
          <p:nvPr/>
        </p:nvSpPr>
        <p:spPr>
          <a:xfrm>
            <a:off x="2194083" y="9318328"/>
            <a:ext cx="343853" cy="427386"/>
          </a:xfrm>
          <a:custGeom>
            <a:rect b="b" l="l" r="r" t="t"/>
            <a:pathLst>
              <a:path extrusionOk="0" h="569849" w="458470">
                <a:moveTo>
                  <a:pt x="458343" y="0"/>
                </a:moveTo>
                <a:lnTo>
                  <a:pt x="331851" y="0"/>
                </a:lnTo>
                <a:lnTo>
                  <a:pt x="331851" y="322707"/>
                </a:lnTo>
                <a:lnTo>
                  <a:pt x="325120" y="387223"/>
                </a:lnTo>
                <a:lnTo>
                  <a:pt x="305308" y="432689"/>
                </a:lnTo>
                <a:lnTo>
                  <a:pt x="272923" y="459486"/>
                </a:lnTo>
                <a:lnTo>
                  <a:pt x="228727" y="468249"/>
                </a:lnTo>
                <a:lnTo>
                  <a:pt x="185547" y="459105"/>
                </a:lnTo>
                <a:lnTo>
                  <a:pt x="153670" y="431673"/>
                </a:lnTo>
                <a:lnTo>
                  <a:pt x="133985" y="386207"/>
                </a:lnTo>
                <a:lnTo>
                  <a:pt x="127254" y="322707"/>
                </a:lnTo>
                <a:lnTo>
                  <a:pt x="127254" y="0"/>
                </a:lnTo>
                <a:lnTo>
                  <a:pt x="0" y="0"/>
                </a:lnTo>
                <a:lnTo>
                  <a:pt x="0" y="312801"/>
                </a:lnTo>
                <a:lnTo>
                  <a:pt x="5080" y="383413"/>
                </a:lnTo>
                <a:lnTo>
                  <a:pt x="19812" y="441960"/>
                </a:lnTo>
                <a:lnTo>
                  <a:pt x="43942" y="489077"/>
                </a:lnTo>
                <a:lnTo>
                  <a:pt x="76962" y="525018"/>
                </a:lnTo>
                <a:lnTo>
                  <a:pt x="118364" y="550164"/>
                </a:lnTo>
                <a:lnTo>
                  <a:pt x="167767" y="565023"/>
                </a:lnTo>
                <a:lnTo>
                  <a:pt x="224790" y="569849"/>
                </a:lnTo>
                <a:lnTo>
                  <a:pt x="283845" y="564769"/>
                </a:lnTo>
                <a:lnTo>
                  <a:pt x="335153" y="549529"/>
                </a:lnTo>
                <a:lnTo>
                  <a:pt x="378206" y="523875"/>
                </a:lnTo>
                <a:lnTo>
                  <a:pt x="412623" y="487680"/>
                </a:lnTo>
                <a:lnTo>
                  <a:pt x="437769" y="440817"/>
                </a:lnTo>
                <a:lnTo>
                  <a:pt x="453263" y="383159"/>
                </a:lnTo>
                <a:lnTo>
                  <a:pt x="458470" y="314579"/>
                </a:lnTo>
                <a:lnTo>
                  <a:pt x="4584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17" name="Google Shape;117;p5"/>
          <p:cNvSpPr/>
          <p:nvPr/>
        </p:nvSpPr>
        <p:spPr>
          <a:xfrm>
            <a:off x="2585521" y="9311467"/>
            <a:ext cx="333244" cy="434315"/>
          </a:xfrm>
          <a:custGeom>
            <a:rect b="b" l="l" r="r" t="t"/>
            <a:pathLst>
              <a:path extrusionOk="0" h="434315" w="333244">
                <a:moveTo>
                  <a:pt x="0" y="0"/>
                </a:moveTo>
                <a:lnTo>
                  <a:pt x="333245" y="0"/>
                </a:lnTo>
                <a:lnTo>
                  <a:pt x="333245" y="434315"/>
                </a:lnTo>
                <a:lnTo>
                  <a:pt x="0" y="4343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5"/>
          <p:cNvSpPr/>
          <p:nvPr/>
        </p:nvSpPr>
        <p:spPr>
          <a:xfrm>
            <a:off x="2871762" y="9202268"/>
            <a:ext cx="102108" cy="102108"/>
          </a:xfrm>
          <a:custGeom>
            <a:rect b="b" l="l" r="r" t="t"/>
            <a:pathLst>
              <a:path extrusionOk="0" h="136144" w="136144">
                <a:moveTo>
                  <a:pt x="0" y="0"/>
                </a:moveTo>
                <a:lnTo>
                  <a:pt x="136144" y="0"/>
                </a:lnTo>
                <a:lnTo>
                  <a:pt x="136144" y="136144"/>
                </a:lnTo>
                <a:lnTo>
                  <a:pt x="0" y="136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8" l="0" r="-28" t="0"/>
            </a:stretch>
          </a:blipFill>
          <a:ln>
            <a:noFill/>
          </a:ln>
        </p:spPr>
      </p:sp>
      <p:sp>
        <p:nvSpPr>
          <p:cNvPr id="119" name="Google Shape;119;p5"/>
          <p:cNvSpPr/>
          <p:nvPr/>
        </p:nvSpPr>
        <p:spPr>
          <a:xfrm>
            <a:off x="16226408" y="596752"/>
            <a:ext cx="2040445" cy="964120"/>
          </a:xfrm>
          <a:custGeom>
            <a:rect b="b" l="l" r="r" t="t"/>
            <a:pathLst>
              <a:path extrusionOk="0" h="1285494" w="2720594">
                <a:moveTo>
                  <a:pt x="2720594" y="0"/>
                </a:moveTo>
                <a:lnTo>
                  <a:pt x="0" y="0"/>
                </a:lnTo>
                <a:lnTo>
                  <a:pt x="0" y="1285494"/>
                </a:lnTo>
                <a:lnTo>
                  <a:pt x="2720594" y="1285494"/>
                </a:lnTo>
                <a:lnTo>
                  <a:pt x="2720594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120" name="Google Shape;120;p5"/>
          <p:cNvSpPr txBox="1"/>
          <p:nvPr/>
        </p:nvSpPr>
        <p:spPr>
          <a:xfrm>
            <a:off x="661429" y="668052"/>
            <a:ext cx="15273141" cy="691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Introducción</a:t>
            </a:r>
            <a:endParaRPr/>
          </a:p>
        </p:txBody>
      </p:sp>
      <p:sp>
        <p:nvSpPr>
          <p:cNvPr id="121" name="Google Shape;121;p5"/>
          <p:cNvSpPr txBox="1"/>
          <p:nvPr/>
        </p:nvSpPr>
        <p:spPr>
          <a:xfrm>
            <a:off x="845907" y="2277756"/>
            <a:ext cx="16596186" cy="321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4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proyecto </a:t>
            </a:r>
            <a:r>
              <a:rPr b="0" i="1" lang="en-US" sz="354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Capstone_RH Digital</a:t>
            </a:r>
            <a:r>
              <a:rPr b="0" i="0" lang="en-US" sz="354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fue desarrollado con el propósito de optimizar la gestión de recursos humanos y remuneraciones en pequeñas y medianas empresas (PYMEs) chilenas.</a:t>
            </a:r>
            <a:endParaRPr/>
          </a:p>
          <a:p>
            <a:pPr indent="0" lvl="0" marL="0" marR="0" rtl="0" algn="l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4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Surge ante la necesidad de digitalizar procesos administrativos, reducir errores en cálculos de sueldos y mejorar el control de asistencia.</a:t>
            </a:r>
            <a:endParaRPr/>
          </a:p>
          <a:p>
            <a:pPr indent="0" lvl="0" marL="0" marR="0" rtl="0" algn="l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4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/>
          <p:nvPr/>
        </p:nvSpPr>
        <p:spPr>
          <a:xfrm>
            <a:off x="661429" y="9279220"/>
            <a:ext cx="1433470" cy="464925"/>
          </a:xfrm>
          <a:custGeom>
            <a:rect b="b" l="l" r="r" t="t"/>
            <a:pathLst>
              <a:path extrusionOk="0" h="464925" w="1433470">
                <a:moveTo>
                  <a:pt x="0" y="0"/>
                </a:moveTo>
                <a:lnTo>
                  <a:pt x="1433469" y="0"/>
                </a:lnTo>
                <a:lnTo>
                  <a:pt x="1433469" y="464925"/>
                </a:lnTo>
                <a:lnTo>
                  <a:pt x="0" y="4649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6"/>
          <p:cNvSpPr/>
          <p:nvPr/>
        </p:nvSpPr>
        <p:spPr>
          <a:xfrm>
            <a:off x="2194083" y="9318328"/>
            <a:ext cx="343853" cy="427386"/>
          </a:xfrm>
          <a:custGeom>
            <a:rect b="b" l="l" r="r" t="t"/>
            <a:pathLst>
              <a:path extrusionOk="0" h="569849" w="458470">
                <a:moveTo>
                  <a:pt x="458343" y="0"/>
                </a:moveTo>
                <a:lnTo>
                  <a:pt x="331851" y="0"/>
                </a:lnTo>
                <a:lnTo>
                  <a:pt x="331851" y="322707"/>
                </a:lnTo>
                <a:lnTo>
                  <a:pt x="325120" y="387223"/>
                </a:lnTo>
                <a:lnTo>
                  <a:pt x="305308" y="432689"/>
                </a:lnTo>
                <a:lnTo>
                  <a:pt x="272923" y="459486"/>
                </a:lnTo>
                <a:lnTo>
                  <a:pt x="228727" y="468249"/>
                </a:lnTo>
                <a:lnTo>
                  <a:pt x="185547" y="459105"/>
                </a:lnTo>
                <a:lnTo>
                  <a:pt x="153670" y="431673"/>
                </a:lnTo>
                <a:lnTo>
                  <a:pt x="133985" y="386207"/>
                </a:lnTo>
                <a:lnTo>
                  <a:pt x="127254" y="322707"/>
                </a:lnTo>
                <a:lnTo>
                  <a:pt x="127254" y="0"/>
                </a:lnTo>
                <a:lnTo>
                  <a:pt x="0" y="0"/>
                </a:lnTo>
                <a:lnTo>
                  <a:pt x="0" y="312801"/>
                </a:lnTo>
                <a:lnTo>
                  <a:pt x="5080" y="383413"/>
                </a:lnTo>
                <a:lnTo>
                  <a:pt x="19812" y="441960"/>
                </a:lnTo>
                <a:lnTo>
                  <a:pt x="43942" y="489077"/>
                </a:lnTo>
                <a:lnTo>
                  <a:pt x="76962" y="525018"/>
                </a:lnTo>
                <a:lnTo>
                  <a:pt x="118364" y="550164"/>
                </a:lnTo>
                <a:lnTo>
                  <a:pt x="167767" y="565023"/>
                </a:lnTo>
                <a:lnTo>
                  <a:pt x="224790" y="569849"/>
                </a:lnTo>
                <a:lnTo>
                  <a:pt x="283845" y="564769"/>
                </a:lnTo>
                <a:lnTo>
                  <a:pt x="335153" y="549529"/>
                </a:lnTo>
                <a:lnTo>
                  <a:pt x="378206" y="523875"/>
                </a:lnTo>
                <a:lnTo>
                  <a:pt x="412623" y="487680"/>
                </a:lnTo>
                <a:lnTo>
                  <a:pt x="437769" y="440817"/>
                </a:lnTo>
                <a:lnTo>
                  <a:pt x="453263" y="383159"/>
                </a:lnTo>
                <a:lnTo>
                  <a:pt x="458470" y="314579"/>
                </a:lnTo>
                <a:lnTo>
                  <a:pt x="4584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28" name="Google Shape;128;p6"/>
          <p:cNvSpPr/>
          <p:nvPr/>
        </p:nvSpPr>
        <p:spPr>
          <a:xfrm>
            <a:off x="2585521" y="9311467"/>
            <a:ext cx="333244" cy="434315"/>
          </a:xfrm>
          <a:custGeom>
            <a:rect b="b" l="l" r="r" t="t"/>
            <a:pathLst>
              <a:path extrusionOk="0" h="434315" w="333244">
                <a:moveTo>
                  <a:pt x="0" y="0"/>
                </a:moveTo>
                <a:lnTo>
                  <a:pt x="333245" y="0"/>
                </a:lnTo>
                <a:lnTo>
                  <a:pt x="333245" y="434315"/>
                </a:lnTo>
                <a:lnTo>
                  <a:pt x="0" y="4343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6"/>
          <p:cNvSpPr/>
          <p:nvPr/>
        </p:nvSpPr>
        <p:spPr>
          <a:xfrm>
            <a:off x="2871762" y="9202268"/>
            <a:ext cx="102108" cy="102108"/>
          </a:xfrm>
          <a:custGeom>
            <a:rect b="b" l="l" r="r" t="t"/>
            <a:pathLst>
              <a:path extrusionOk="0" h="136144" w="136144">
                <a:moveTo>
                  <a:pt x="0" y="0"/>
                </a:moveTo>
                <a:lnTo>
                  <a:pt x="136144" y="0"/>
                </a:lnTo>
                <a:lnTo>
                  <a:pt x="136144" y="136144"/>
                </a:lnTo>
                <a:lnTo>
                  <a:pt x="0" y="136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8" l="0" r="-28" t="0"/>
            </a:stretch>
          </a:blipFill>
          <a:ln>
            <a:noFill/>
          </a:ln>
        </p:spPr>
      </p:sp>
      <p:sp>
        <p:nvSpPr>
          <p:cNvPr id="130" name="Google Shape;130;p6"/>
          <p:cNvSpPr/>
          <p:nvPr/>
        </p:nvSpPr>
        <p:spPr>
          <a:xfrm>
            <a:off x="16226408" y="596752"/>
            <a:ext cx="2040445" cy="964120"/>
          </a:xfrm>
          <a:custGeom>
            <a:rect b="b" l="l" r="r" t="t"/>
            <a:pathLst>
              <a:path extrusionOk="0" h="1285494" w="2720594">
                <a:moveTo>
                  <a:pt x="2720594" y="0"/>
                </a:moveTo>
                <a:lnTo>
                  <a:pt x="0" y="0"/>
                </a:lnTo>
                <a:lnTo>
                  <a:pt x="0" y="1285494"/>
                </a:lnTo>
                <a:lnTo>
                  <a:pt x="2720594" y="1285494"/>
                </a:lnTo>
                <a:lnTo>
                  <a:pt x="2720594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grpSp>
        <p:nvGrpSpPr>
          <p:cNvPr id="131" name="Google Shape;131;p6"/>
          <p:cNvGrpSpPr/>
          <p:nvPr/>
        </p:nvGrpSpPr>
        <p:grpSpPr>
          <a:xfrm>
            <a:off x="385610" y="2678423"/>
            <a:ext cx="4305379" cy="2776970"/>
            <a:chOff x="0" y="0"/>
            <a:chExt cx="6350000" cy="4095750"/>
          </a:xfrm>
        </p:grpSpPr>
        <p:sp>
          <p:nvSpPr>
            <p:cNvPr id="132" name="Google Shape;132;p6"/>
            <p:cNvSpPr/>
            <p:nvPr/>
          </p:nvSpPr>
          <p:spPr>
            <a:xfrm>
              <a:off x="101600" y="521970"/>
              <a:ext cx="6146800" cy="3472180"/>
            </a:xfrm>
            <a:custGeom>
              <a:rect b="b" l="l" r="r" t="t"/>
              <a:pathLst>
                <a:path extrusionOk="0" h="3472180" w="6146800">
                  <a:moveTo>
                    <a:pt x="0" y="0"/>
                  </a:moveTo>
                  <a:lnTo>
                    <a:pt x="6146800" y="0"/>
                  </a:lnTo>
                  <a:lnTo>
                    <a:pt x="6146800" y="3472180"/>
                  </a:lnTo>
                  <a:lnTo>
                    <a:pt x="0" y="34721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-12937" r="-12937" t="0"/>
              </a:stretch>
            </a:blipFill>
            <a:ln>
              <a:noFill/>
            </a:ln>
          </p:spPr>
        </p:sp>
        <p:sp>
          <p:nvSpPr>
            <p:cNvPr id="133" name="Google Shape;133;p6"/>
            <p:cNvSpPr/>
            <p:nvPr/>
          </p:nvSpPr>
          <p:spPr>
            <a:xfrm>
              <a:off x="95250" y="110490"/>
              <a:ext cx="1186180" cy="311150"/>
            </a:xfrm>
            <a:custGeom>
              <a:rect b="b" l="l" r="r" t="t"/>
              <a:pathLst>
                <a:path extrusionOk="0" h="311150" w="1186180">
                  <a:moveTo>
                    <a:pt x="537210" y="99060"/>
                  </a:moveTo>
                  <a:lnTo>
                    <a:pt x="648970" y="99060"/>
                  </a:lnTo>
                  <a:lnTo>
                    <a:pt x="648970" y="210820"/>
                  </a:lnTo>
                  <a:lnTo>
                    <a:pt x="537210" y="210820"/>
                  </a:lnTo>
                  <a:lnTo>
                    <a:pt x="537210" y="99060"/>
                  </a:lnTo>
                  <a:close/>
                  <a:moveTo>
                    <a:pt x="6350" y="0"/>
                  </a:moveTo>
                  <a:lnTo>
                    <a:pt x="312420" y="0"/>
                  </a:lnTo>
                  <a:lnTo>
                    <a:pt x="312420" y="311150"/>
                  </a:lnTo>
                  <a:lnTo>
                    <a:pt x="6350" y="311150"/>
                  </a:lnTo>
                  <a:lnTo>
                    <a:pt x="0" y="311150"/>
                  </a:lnTo>
                  <a:lnTo>
                    <a:pt x="0" y="0"/>
                  </a:lnTo>
                  <a:lnTo>
                    <a:pt x="6350" y="0"/>
                  </a:lnTo>
                  <a:close/>
                  <a:moveTo>
                    <a:pt x="120650" y="156210"/>
                  </a:moveTo>
                  <a:lnTo>
                    <a:pt x="43180" y="232410"/>
                  </a:lnTo>
                  <a:lnTo>
                    <a:pt x="78740" y="267970"/>
                  </a:lnTo>
                  <a:lnTo>
                    <a:pt x="156210" y="190500"/>
                  </a:lnTo>
                  <a:lnTo>
                    <a:pt x="233680" y="267970"/>
                  </a:lnTo>
                  <a:lnTo>
                    <a:pt x="269240" y="232410"/>
                  </a:lnTo>
                  <a:lnTo>
                    <a:pt x="191770" y="156210"/>
                  </a:lnTo>
                  <a:lnTo>
                    <a:pt x="269240" y="78740"/>
                  </a:lnTo>
                  <a:lnTo>
                    <a:pt x="233680" y="43180"/>
                  </a:lnTo>
                  <a:lnTo>
                    <a:pt x="156210" y="120650"/>
                  </a:lnTo>
                  <a:lnTo>
                    <a:pt x="78740" y="43180"/>
                  </a:lnTo>
                  <a:lnTo>
                    <a:pt x="43180" y="78740"/>
                  </a:lnTo>
                  <a:lnTo>
                    <a:pt x="120650" y="156210"/>
                  </a:lnTo>
                  <a:close/>
                  <a:moveTo>
                    <a:pt x="436880" y="0"/>
                  </a:moveTo>
                  <a:lnTo>
                    <a:pt x="748030" y="0"/>
                  </a:lnTo>
                  <a:lnTo>
                    <a:pt x="748030" y="311150"/>
                  </a:lnTo>
                  <a:lnTo>
                    <a:pt x="436880" y="311150"/>
                  </a:lnTo>
                  <a:lnTo>
                    <a:pt x="436880" y="0"/>
                  </a:lnTo>
                  <a:close/>
                  <a:moveTo>
                    <a:pt x="486410" y="261620"/>
                  </a:moveTo>
                  <a:lnTo>
                    <a:pt x="699770" y="261620"/>
                  </a:lnTo>
                  <a:lnTo>
                    <a:pt x="699770" y="48260"/>
                  </a:lnTo>
                  <a:lnTo>
                    <a:pt x="486410" y="48260"/>
                  </a:lnTo>
                  <a:lnTo>
                    <a:pt x="486410" y="261620"/>
                  </a:lnTo>
                  <a:close/>
                  <a:moveTo>
                    <a:pt x="1186180" y="0"/>
                  </a:moveTo>
                  <a:lnTo>
                    <a:pt x="1186180" y="311150"/>
                  </a:lnTo>
                  <a:lnTo>
                    <a:pt x="875030" y="311150"/>
                  </a:lnTo>
                  <a:lnTo>
                    <a:pt x="875030" y="0"/>
                  </a:lnTo>
                  <a:lnTo>
                    <a:pt x="1186180" y="0"/>
                  </a:lnTo>
                  <a:close/>
                  <a:moveTo>
                    <a:pt x="1135380" y="185420"/>
                  </a:moveTo>
                  <a:lnTo>
                    <a:pt x="924560" y="185420"/>
                  </a:lnTo>
                  <a:lnTo>
                    <a:pt x="924560" y="236220"/>
                  </a:lnTo>
                  <a:lnTo>
                    <a:pt x="1135380" y="236220"/>
                  </a:lnTo>
                  <a:lnTo>
                    <a:pt x="1135380" y="185420"/>
                  </a:lnTo>
                  <a:close/>
                </a:path>
              </a:pathLst>
            </a:custGeom>
            <a:solidFill>
              <a:srgbClr val="FACEE1"/>
            </a:solidFill>
            <a:ln>
              <a:noFill/>
            </a:ln>
          </p:spPr>
        </p:sp>
        <p:sp>
          <p:nvSpPr>
            <p:cNvPr id="134" name="Google Shape;134;p6"/>
            <p:cNvSpPr/>
            <p:nvPr/>
          </p:nvSpPr>
          <p:spPr>
            <a:xfrm>
              <a:off x="0" y="0"/>
              <a:ext cx="6350000" cy="4095750"/>
            </a:xfrm>
            <a:custGeom>
              <a:rect b="b" l="l" r="r" t="t"/>
              <a:pathLst>
                <a:path extrusionOk="0" h="4095750" w="6350000">
                  <a:moveTo>
                    <a:pt x="0" y="0"/>
                  </a:moveTo>
                  <a:lnTo>
                    <a:pt x="0" y="521970"/>
                  </a:lnTo>
                  <a:lnTo>
                    <a:pt x="0" y="4095750"/>
                  </a:lnTo>
                  <a:lnTo>
                    <a:pt x="6350000" y="4095750"/>
                  </a:lnTo>
                  <a:lnTo>
                    <a:pt x="6350000" y="521970"/>
                  </a:lnTo>
                  <a:lnTo>
                    <a:pt x="6350000" y="0"/>
                  </a:lnTo>
                  <a:lnTo>
                    <a:pt x="0" y="0"/>
                  </a:lnTo>
                  <a:close/>
                  <a:moveTo>
                    <a:pt x="6248400" y="3994150"/>
                  </a:moveTo>
                  <a:lnTo>
                    <a:pt x="101600" y="3994150"/>
                  </a:lnTo>
                  <a:lnTo>
                    <a:pt x="101600" y="521970"/>
                  </a:lnTo>
                  <a:lnTo>
                    <a:pt x="6248400" y="521970"/>
                  </a:lnTo>
                  <a:lnTo>
                    <a:pt x="6248400" y="3994150"/>
                  </a:lnTo>
                  <a:close/>
                  <a:moveTo>
                    <a:pt x="1281430" y="110490"/>
                  </a:moveTo>
                  <a:lnTo>
                    <a:pt x="1281430" y="421640"/>
                  </a:lnTo>
                  <a:lnTo>
                    <a:pt x="970280" y="421640"/>
                  </a:lnTo>
                  <a:lnTo>
                    <a:pt x="970280" y="110490"/>
                  </a:lnTo>
                  <a:lnTo>
                    <a:pt x="1281430" y="110490"/>
                  </a:lnTo>
                  <a:close/>
                  <a:moveTo>
                    <a:pt x="844550" y="110490"/>
                  </a:moveTo>
                  <a:lnTo>
                    <a:pt x="844550" y="421640"/>
                  </a:lnTo>
                  <a:lnTo>
                    <a:pt x="532130" y="421640"/>
                  </a:lnTo>
                  <a:lnTo>
                    <a:pt x="532130" y="110490"/>
                  </a:lnTo>
                  <a:lnTo>
                    <a:pt x="844550" y="110490"/>
                  </a:lnTo>
                  <a:close/>
                  <a:moveTo>
                    <a:pt x="407670" y="110490"/>
                  </a:moveTo>
                  <a:lnTo>
                    <a:pt x="407670" y="421640"/>
                  </a:lnTo>
                  <a:lnTo>
                    <a:pt x="101600" y="421640"/>
                  </a:lnTo>
                  <a:lnTo>
                    <a:pt x="95250" y="421640"/>
                  </a:lnTo>
                  <a:lnTo>
                    <a:pt x="95250" y="110490"/>
                  </a:lnTo>
                  <a:lnTo>
                    <a:pt x="101600" y="110490"/>
                  </a:lnTo>
                  <a:lnTo>
                    <a:pt x="407670" y="110490"/>
                  </a:lnTo>
                  <a:close/>
                  <a:moveTo>
                    <a:pt x="364490" y="189230"/>
                  </a:moveTo>
                  <a:lnTo>
                    <a:pt x="287020" y="266700"/>
                  </a:lnTo>
                  <a:lnTo>
                    <a:pt x="364490" y="344170"/>
                  </a:lnTo>
                  <a:lnTo>
                    <a:pt x="328930" y="379730"/>
                  </a:lnTo>
                  <a:lnTo>
                    <a:pt x="251460" y="302260"/>
                  </a:lnTo>
                  <a:lnTo>
                    <a:pt x="173990" y="379730"/>
                  </a:lnTo>
                  <a:lnTo>
                    <a:pt x="138430" y="342900"/>
                  </a:lnTo>
                  <a:lnTo>
                    <a:pt x="215900" y="266700"/>
                  </a:lnTo>
                  <a:lnTo>
                    <a:pt x="138430" y="189230"/>
                  </a:lnTo>
                  <a:lnTo>
                    <a:pt x="173990" y="153670"/>
                  </a:lnTo>
                  <a:lnTo>
                    <a:pt x="251460" y="231140"/>
                  </a:lnTo>
                  <a:lnTo>
                    <a:pt x="328930" y="153670"/>
                  </a:lnTo>
                  <a:lnTo>
                    <a:pt x="364490" y="189230"/>
                  </a:lnTo>
                  <a:close/>
                  <a:moveTo>
                    <a:pt x="795020" y="158750"/>
                  </a:moveTo>
                  <a:lnTo>
                    <a:pt x="581660" y="158750"/>
                  </a:lnTo>
                  <a:lnTo>
                    <a:pt x="581660" y="372110"/>
                  </a:lnTo>
                  <a:lnTo>
                    <a:pt x="795020" y="372110"/>
                  </a:lnTo>
                  <a:lnTo>
                    <a:pt x="795020" y="158750"/>
                  </a:lnTo>
                  <a:close/>
                  <a:moveTo>
                    <a:pt x="744220" y="321310"/>
                  </a:moveTo>
                  <a:lnTo>
                    <a:pt x="632460" y="321310"/>
                  </a:lnTo>
                  <a:lnTo>
                    <a:pt x="632460" y="209550"/>
                  </a:lnTo>
                  <a:lnTo>
                    <a:pt x="744220" y="209550"/>
                  </a:lnTo>
                  <a:lnTo>
                    <a:pt x="744220" y="321310"/>
                  </a:lnTo>
                  <a:close/>
                  <a:moveTo>
                    <a:pt x="1019810" y="295910"/>
                  </a:moveTo>
                  <a:lnTo>
                    <a:pt x="1230630" y="295910"/>
                  </a:lnTo>
                  <a:lnTo>
                    <a:pt x="1230630" y="346710"/>
                  </a:lnTo>
                  <a:lnTo>
                    <a:pt x="1019810" y="346710"/>
                  </a:lnTo>
                  <a:lnTo>
                    <a:pt x="1019810" y="295910"/>
                  </a:lnTo>
                  <a:close/>
                </a:path>
              </a:pathLst>
            </a:custGeom>
            <a:solidFill>
              <a:srgbClr val="6466AF"/>
            </a:solidFill>
            <a:ln>
              <a:noFill/>
            </a:ln>
          </p:spPr>
        </p:sp>
      </p:grpSp>
      <p:grpSp>
        <p:nvGrpSpPr>
          <p:cNvPr id="135" name="Google Shape;135;p6"/>
          <p:cNvGrpSpPr/>
          <p:nvPr/>
        </p:nvGrpSpPr>
        <p:grpSpPr>
          <a:xfrm>
            <a:off x="5995425" y="2262548"/>
            <a:ext cx="1575137" cy="3192844"/>
            <a:chOff x="0" y="0"/>
            <a:chExt cx="9398000" cy="19050000"/>
          </a:xfrm>
        </p:grpSpPr>
        <p:sp>
          <p:nvSpPr>
            <p:cNvPr id="136" name="Google Shape;136;p6"/>
            <p:cNvSpPr/>
            <p:nvPr/>
          </p:nvSpPr>
          <p:spPr>
            <a:xfrm>
              <a:off x="401955" y="301498"/>
              <a:ext cx="8566912" cy="18446877"/>
            </a:xfrm>
            <a:custGeom>
              <a:rect b="b" l="l" r="r" t="t"/>
              <a:pathLst>
                <a:path extrusionOk="0" h="18446877" w="8566912">
                  <a:moveTo>
                    <a:pt x="7456551" y="18446877"/>
                  </a:moveTo>
                  <a:lnTo>
                    <a:pt x="1125220" y="18446877"/>
                  </a:lnTo>
                  <a:cubicBezTo>
                    <a:pt x="503809" y="18446877"/>
                    <a:pt x="0" y="17943067"/>
                    <a:pt x="0" y="17321657"/>
                  </a:cubicBezTo>
                  <a:lnTo>
                    <a:pt x="0" y="1085342"/>
                  </a:lnTo>
                  <a:cubicBezTo>
                    <a:pt x="0" y="485902"/>
                    <a:pt x="485902" y="0"/>
                    <a:pt x="1085342" y="0"/>
                  </a:cubicBezTo>
                  <a:lnTo>
                    <a:pt x="7504811" y="0"/>
                  </a:lnTo>
                  <a:cubicBezTo>
                    <a:pt x="8091424" y="0"/>
                    <a:pt x="8566912" y="475488"/>
                    <a:pt x="8566912" y="1062101"/>
                  </a:cubicBezTo>
                  <a:lnTo>
                    <a:pt x="8566912" y="17336515"/>
                  </a:lnTo>
                  <a:cubicBezTo>
                    <a:pt x="8566912" y="17949672"/>
                    <a:pt x="8069707" y="18446877"/>
                    <a:pt x="7456551" y="18446877"/>
                  </a:cubicBez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-12979" r="-65822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0" y="0"/>
              <a:ext cx="9398000" cy="19050000"/>
            </a:xfrm>
            <a:custGeom>
              <a:rect b="b" l="l" r="r" t="t"/>
              <a:pathLst>
                <a:path extrusionOk="0" h="19050000" w="9398000">
                  <a:moveTo>
                    <a:pt x="9398000" y="19050000"/>
                  </a:moveTo>
                  <a:lnTo>
                    <a:pt x="0" y="19050000"/>
                  </a:lnTo>
                  <a:lnTo>
                    <a:pt x="0" y="0"/>
                  </a:lnTo>
                  <a:lnTo>
                    <a:pt x="9398000" y="0"/>
                  </a:lnTo>
                  <a:lnTo>
                    <a:pt x="9398000" y="1905000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-41" r="-41" t="0"/>
              </a:stretch>
            </a:blipFill>
            <a:ln>
              <a:noFill/>
            </a:ln>
          </p:spPr>
        </p:sp>
      </p:grpSp>
      <p:sp>
        <p:nvSpPr>
          <p:cNvPr id="138" name="Google Shape;138;p6"/>
          <p:cNvSpPr/>
          <p:nvPr/>
        </p:nvSpPr>
        <p:spPr>
          <a:xfrm>
            <a:off x="10768569" y="2628842"/>
            <a:ext cx="2256705" cy="2256705"/>
          </a:xfrm>
          <a:custGeom>
            <a:rect b="b" l="l" r="r" t="t"/>
            <a:pathLst>
              <a:path extrusionOk="0" h="2256705" w="2256705">
                <a:moveTo>
                  <a:pt x="0" y="0"/>
                </a:moveTo>
                <a:lnTo>
                  <a:pt x="2256705" y="0"/>
                </a:lnTo>
                <a:lnTo>
                  <a:pt x="2256705" y="2256704"/>
                </a:lnTo>
                <a:lnTo>
                  <a:pt x="0" y="22567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6"/>
          <p:cNvSpPr/>
          <p:nvPr/>
        </p:nvSpPr>
        <p:spPr>
          <a:xfrm>
            <a:off x="14249343" y="2378643"/>
            <a:ext cx="2622998" cy="2622998"/>
          </a:xfrm>
          <a:custGeom>
            <a:rect b="b" l="l" r="r" t="t"/>
            <a:pathLst>
              <a:path extrusionOk="0" h="2622998" w="2622998">
                <a:moveTo>
                  <a:pt x="0" y="0"/>
                </a:moveTo>
                <a:lnTo>
                  <a:pt x="2622998" y="0"/>
                </a:lnTo>
                <a:lnTo>
                  <a:pt x="2622998" y="2622998"/>
                </a:lnTo>
                <a:lnTo>
                  <a:pt x="0" y="2622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6"/>
          <p:cNvSpPr/>
          <p:nvPr/>
        </p:nvSpPr>
        <p:spPr>
          <a:xfrm>
            <a:off x="10544984" y="7035228"/>
            <a:ext cx="2951615" cy="2951615"/>
          </a:xfrm>
          <a:custGeom>
            <a:rect b="b" l="l" r="r" t="t"/>
            <a:pathLst>
              <a:path extrusionOk="0" h="2951615" w="2951615">
                <a:moveTo>
                  <a:pt x="0" y="0"/>
                </a:moveTo>
                <a:lnTo>
                  <a:pt x="2951615" y="0"/>
                </a:lnTo>
                <a:lnTo>
                  <a:pt x="2951615" y="2951616"/>
                </a:lnTo>
                <a:lnTo>
                  <a:pt x="0" y="29516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6"/>
          <p:cNvSpPr/>
          <p:nvPr/>
        </p:nvSpPr>
        <p:spPr>
          <a:xfrm>
            <a:off x="14482798" y="7035228"/>
            <a:ext cx="2529248" cy="2529248"/>
          </a:xfrm>
          <a:custGeom>
            <a:rect b="b" l="l" r="r" t="t"/>
            <a:pathLst>
              <a:path extrusionOk="0" h="2529248" w="2529248">
                <a:moveTo>
                  <a:pt x="0" y="0"/>
                </a:moveTo>
                <a:lnTo>
                  <a:pt x="2529249" y="0"/>
                </a:lnTo>
                <a:lnTo>
                  <a:pt x="2529249" y="2529248"/>
                </a:lnTo>
                <a:lnTo>
                  <a:pt x="0" y="25292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6"/>
          <p:cNvSpPr txBox="1"/>
          <p:nvPr/>
        </p:nvSpPr>
        <p:spPr>
          <a:xfrm>
            <a:off x="661429" y="668052"/>
            <a:ext cx="15273141" cy="691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Introducción</a:t>
            </a:r>
            <a:endParaRPr/>
          </a:p>
        </p:txBody>
      </p:sp>
      <p:sp>
        <p:nvSpPr>
          <p:cNvPr id="143" name="Google Shape;143;p6"/>
          <p:cNvSpPr txBox="1"/>
          <p:nvPr/>
        </p:nvSpPr>
        <p:spPr>
          <a:xfrm>
            <a:off x="385610" y="1530918"/>
            <a:ext cx="8552588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PLATAFORMA WEB Y PLATAFORMA MÓVIL</a:t>
            </a:r>
            <a:endParaRPr/>
          </a:p>
        </p:txBody>
      </p:sp>
      <p:sp>
        <p:nvSpPr>
          <p:cNvPr id="144" name="Google Shape;144;p6"/>
          <p:cNvSpPr txBox="1"/>
          <p:nvPr/>
        </p:nvSpPr>
        <p:spPr>
          <a:xfrm>
            <a:off x="509999" y="7006086"/>
            <a:ext cx="7657037" cy="1796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ofrecer una solución moderna, escalable y accesible desde cualquier dispositivo.</a:t>
            </a:r>
            <a:endParaRPr/>
          </a:p>
        </p:txBody>
      </p:sp>
      <p:sp>
        <p:nvSpPr>
          <p:cNvPr id="145" name="Google Shape;145;p6"/>
          <p:cNvSpPr txBox="1"/>
          <p:nvPr/>
        </p:nvSpPr>
        <p:spPr>
          <a:xfrm>
            <a:off x="10768569" y="1530918"/>
            <a:ext cx="570105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Ionic               y         Angular</a:t>
            </a:r>
            <a:endParaRPr/>
          </a:p>
        </p:txBody>
      </p:sp>
      <p:sp>
        <p:nvSpPr>
          <p:cNvPr id="146" name="Google Shape;146;p6"/>
          <p:cNvSpPr txBox="1"/>
          <p:nvPr/>
        </p:nvSpPr>
        <p:spPr>
          <a:xfrm>
            <a:off x="10544984" y="5954141"/>
            <a:ext cx="3074113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/>
          </a:p>
        </p:txBody>
      </p:sp>
      <p:sp>
        <p:nvSpPr>
          <p:cNvPr id="147" name="Google Shape;147;p6"/>
          <p:cNvSpPr txBox="1"/>
          <p:nvPr/>
        </p:nvSpPr>
        <p:spPr>
          <a:xfrm>
            <a:off x="14397513" y="5954141"/>
            <a:ext cx="3074113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Google Cloud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/>
          <p:nvPr/>
        </p:nvSpPr>
        <p:spPr>
          <a:xfrm>
            <a:off x="661429" y="9279220"/>
            <a:ext cx="1433470" cy="464925"/>
          </a:xfrm>
          <a:custGeom>
            <a:rect b="b" l="l" r="r" t="t"/>
            <a:pathLst>
              <a:path extrusionOk="0" h="464925" w="1433470">
                <a:moveTo>
                  <a:pt x="0" y="0"/>
                </a:moveTo>
                <a:lnTo>
                  <a:pt x="1433469" y="0"/>
                </a:lnTo>
                <a:lnTo>
                  <a:pt x="1433469" y="464925"/>
                </a:lnTo>
                <a:lnTo>
                  <a:pt x="0" y="4649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p7"/>
          <p:cNvSpPr/>
          <p:nvPr/>
        </p:nvSpPr>
        <p:spPr>
          <a:xfrm>
            <a:off x="2194083" y="9318328"/>
            <a:ext cx="343853" cy="427386"/>
          </a:xfrm>
          <a:custGeom>
            <a:rect b="b" l="l" r="r" t="t"/>
            <a:pathLst>
              <a:path extrusionOk="0" h="569849" w="458470">
                <a:moveTo>
                  <a:pt x="458343" y="0"/>
                </a:moveTo>
                <a:lnTo>
                  <a:pt x="331851" y="0"/>
                </a:lnTo>
                <a:lnTo>
                  <a:pt x="331851" y="322707"/>
                </a:lnTo>
                <a:lnTo>
                  <a:pt x="325120" y="387223"/>
                </a:lnTo>
                <a:lnTo>
                  <a:pt x="305308" y="432689"/>
                </a:lnTo>
                <a:lnTo>
                  <a:pt x="272923" y="459486"/>
                </a:lnTo>
                <a:lnTo>
                  <a:pt x="228727" y="468249"/>
                </a:lnTo>
                <a:lnTo>
                  <a:pt x="185547" y="459105"/>
                </a:lnTo>
                <a:lnTo>
                  <a:pt x="153670" y="431673"/>
                </a:lnTo>
                <a:lnTo>
                  <a:pt x="133985" y="386207"/>
                </a:lnTo>
                <a:lnTo>
                  <a:pt x="127254" y="322707"/>
                </a:lnTo>
                <a:lnTo>
                  <a:pt x="127254" y="0"/>
                </a:lnTo>
                <a:lnTo>
                  <a:pt x="0" y="0"/>
                </a:lnTo>
                <a:lnTo>
                  <a:pt x="0" y="312801"/>
                </a:lnTo>
                <a:lnTo>
                  <a:pt x="5080" y="383413"/>
                </a:lnTo>
                <a:lnTo>
                  <a:pt x="19812" y="441960"/>
                </a:lnTo>
                <a:lnTo>
                  <a:pt x="43942" y="489077"/>
                </a:lnTo>
                <a:lnTo>
                  <a:pt x="76962" y="525018"/>
                </a:lnTo>
                <a:lnTo>
                  <a:pt x="118364" y="550164"/>
                </a:lnTo>
                <a:lnTo>
                  <a:pt x="167767" y="565023"/>
                </a:lnTo>
                <a:lnTo>
                  <a:pt x="224790" y="569849"/>
                </a:lnTo>
                <a:lnTo>
                  <a:pt x="283845" y="564769"/>
                </a:lnTo>
                <a:lnTo>
                  <a:pt x="335153" y="549529"/>
                </a:lnTo>
                <a:lnTo>
                  <a:pt x="378206" y="523875"/>
                </a:lnTo>
                <a:lnTo>
                  <a:pt x="412623" y="487680"/>
                </a:lnTo>
                <a:lnTo>
                  <a:pt x="437769" y="440817"/>
                </a:lnTo>
                <a:lnTo>
                  <a:pt x="453263" y="383159"/>
                </a:lnTo>
                <a:lnTo>
                  <a:pt x="458470" y="314579"/>
                </a:lnTo>
                <a:lnTo>
                  <a:pt x="4584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54" name="Google Shape;154;p7"/>
          <p:cNvSpPr/>
          <p:nvPr/>
        </p:nvSpPr>
        <p:spPr>
          <a:xfrm>
            <a:off x="2585521" y="9311467"/>
            <a:ext cx="333244" cy="434315"/>
          </a:xfrm>
          <a:custGeom>
            <a:rect b="b" l="l" r="r" t="t"/>
            <a:pathLst>
              <a:path extrusionOk="0" h="434315" w="333244">
                <a:moveTo>
                  <a:pt x="0" y="0"/>
                </a:moveTo>
                <a:lnTo>
                  <a:pt x="333245" y="0"/>
                </a:lnTo>
                <a:lnTo>
                  <a:pt x="333245" y="434315"/>
                </a:lnTo>
                <a:lnTo>
                  <a:pt x="0" y="4343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7"/>
          <p:cNvSpPr/>
          <p:nvPr/>
        </p:nvSpPr>
        <p:spPr>
          <a:xfrm>
            <a:off x="2871762" y="9202268"/>
            <a:ext cx="102108" cy="102108"/>
          </a:xfrm>
          <a:custGeom>
            <a:rect b="b" l="l" r="r" t="t"/>
            <a:pathLst>
              <a:path extrusionOk="0" h="136144" w="136144">
                <a:moveTo>
                  <a:pt x="0" y="0"/>
                </a:moveTo>
                <a:lnTo>
                  <a:pt x="136144" y="0"/>
                </a:lnTo>
                <a:lnTo>
                  <a:pt x="136144" y="136144"/>
                </a:lnTo>
                <a:lnTo>
                  <a:pt x="0" y="136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8" l="0" r="-28" t="0"/>
            </a:stretch>
          </a:blipFill>
          <a:ln>
            <a:noFill/>
          </a:ln>
        </p:spPr>
      </p:sp>
      <p:sp>
        <p:nvSpPr>
          <p:cNvPr id="156" name="Google Shape;156;p7"/>
          <p:cNvSpPr/>
          <p:nvPr/>
        </p:nvSpPr>
        <p:spPr>
          <a:xfrm>
            <a:off x="16226408" y="596752"/>
            <a:ext cx="2040445" cy="964120"/>
          </a:xfrm>
          <a:custGeom>
            <a:rect b="b" l="l" r="r" t="t"/>
            <a:pathLst>
              <a:path extrusionOk="0" h="1285494" w="2720594">
                <a:moveTo>
                  <a:pt x="2720594" y="0"/>
                </a:moveTo>
                <a:lnTo>
                  <a:pt x="0" y="0"/>
                </a:lnTo>
                <a:lnTo>
                  <a:pt x="0" y="1285494"/>
                </a:lnTo>
                <a:lnTo>
                  <a:pt x="2720594" y="1285494"/>
                </a:lnTo>
                <a:lnTo>
                  <a:pt x="2720594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157" name="Google Shape;157;p7"/>
          <p:cNvSpPr/>
          <p:nvPr/>
        </p:nvSpPr>
        <p:spPr>
          <a:xfrm>
            <a:off x="8673955" y="2563230"/>
            <a:ext cx="9592923" cy="7723770"/>
          </a:xfrm>
          <a:custGeom>
            <a:rect b="b" l="l" r="r" t="t"/>
            <a:pathLst>
              <a:path extrusionOk="0" h="7723770" w="9592923">
                <a:moveTo>
                  <a:pt x="0" y="0"/>
                </a:moveTo>
                <a:lnTo>
                  <a:pt x="9592923" y="0"/>
                </a:lnTo>
                <a:lnTo>
                  <a:pt x="9592923" y="7723770"/>
                </a:lnTo>
                <a:lnTo>
                  <a:pt x="0" y="77237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" name="Google Shape;158;p7"/>
          <p:cNvSpPr txBox="1"/>
          <p:nvPr/>
        </p:nvSpPr>
        <p:spPr>
          <a:xfrm>
            <a:off x="221886" y="606277"/>
            <a:ext cx="9815400" cy="91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muchas PYMEs chilenas, los procesos de recursos humanos se realizan manualmente o con herramientas poco integradas.</a:t>
            </a:r>
            <a:endParaRPr sz="900"/>
          </a:p>
          <a:p>
            <a:pPr indent="0" lvl="0" marL="0" marR="0" rtl="0" algn="l">
              <a:lnSpc>
                <a:spcPct val="108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Esto genera problemas como:</a:t>
            </a:r>
            <a:endParaRPr sz="900"/>
          </a:p>
          <a:p>
            <a:pPr indent="-371285" lvl="1" marL="806069" marR="0" rtl="0" algn="l">
              <a:lnSpc>
                <a:spcPct val="108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3"/>
              <a:buFont typeface="Arial"/>
              <a:buChar char="•"/>
            </a:pPr>
            <a:r>
              <a:rPr b="0" i="0" lang="en-US" sz="32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Errores en el cálculo de sueldos y descuentos legales.</a:t>
            </a:r>
            <a:endParaRPr sz="900"/>
          </a:p>
          <a:p>
            <a:pPr indent="-371285" lvl="1" marL="806069" marR="0" rtl="0" algn="l">
              <a:lnSpc>
                <a:spcPct val="108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3"/>
              <a:buFont typeface="Arial"/>
              <a:buChar char="•"/>
            </a:pPr>
            <a:r>
              <a:rPr b="0" i="0" lang="en-US" sz="32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Dificultad para mantener actualizados los registros de asistencia.</a:t>
            </a:r>
            <a:endParaRPr sz="900"/>
          </a:p>
          <a:p>
            <a:pPr indent="-371285" lvl="1" marL="806069" marR="0" rtl="0" algn="l">
              <a:lnSpc>
                <a:spcPct val="108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3"/>
              <a:buFont typeface="Arial"/>
              <a:buChar char="•"/>
            </a:pPr>
            <a:r>
              <a:rPr b="0" i="0" lang="en-US" sz="32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Pérdida o duplicación de documentos laborales.</a:t>
            </a:r>
            <a:endParaRPr sz="900"/>
          </a:p>
          <a:p>
            <a:pPr indent="-371285" lvl="1" marL="806069" marR="0" rtl="0" algn="l">
              <a:lnSpc>
                <a:spcPct val="108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3"/>
              <a:buFont typeface="Arial"/>
              <a:buChar char="•"/>
            </a:pPr>
            <a:r>
              <a:rPr b="0" i="0" lang="en-US" sz="32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Falta de control y trazabilidad en la gestión del personal.</a:t>
            </a:r>
            <a:endParaRPr sz="900"/>
          </a:p>
          <a:p>
            <a:pPr indent="0" lvl="0" marL="0" marR="0" rtl="0" algn="l">
              <a:lnSpc>
                <a:spcPct val="108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8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Capstone_RH Digital aborda esta situación automatizando los procesos clave de RR.HH. y centralizando la información en un sistema seguro y eficiente.</a:t>
            </a:r>
            <a:endParaRPr sz="900"/>
          </a:p>
          <a:p>
            <a:pPr indent="0" lvl="0" marL="0" marR="0" rtl="0" algn="l">
              <a:lnSpc>
                <a:spcPct val="885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7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 txBox="1"/>
          <p:nvPr/>
        </p:nvSpPr>
        <p:spPr>
          <a:xfrm>
            <a:off x="661429" y="668052"/>
            <a:ext cx="15273071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⚠️ Problematica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/>
          <p:nvPr/>
        </p:nvSpPr>
        <p:spPr>
          <a:xfrm>
            <a:off x="661429" y="9279220"/>
            <a:ext cx="1433470" cy="464925"/>
          </a:xfrm>
          <a:custGeom>
            <a:rect b="b" l="l" r="r" t="t"/>
            <a:pathLst>
              <a:path extrusionOk="0" h="464925" w="1433470">
                <a:moveTo>
                  <a:pt x="0" y="0"/>
                </a:moveTo>
                <a:lnTo>
                  <a:pt x="1433469" y="0"/>
                </a:lnTo>
                <a:lnTo>
                  <a:pt x="1433469" y="464925"/>
                </a:lnTo>
                <a:lnTo>
                  <a:pt x="0" y="4649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5" name="Google Shape;165;p8"/>
          <p:cNvSpPr/>
          <p:nvPr/>
        </p:nvSpPr>
        <p:spPr>
          <a:xfrm>
            <a:off x="2194083" y="9318328"/>
            <a:ext cx="343853" cy="427386"/>
          </a:xfrm>
          <a:custGeom>
            <a:rect b="b" l="l" r="r" t="t"/>
            <a:pathLst>
              <a:path extrusionOk="0" h="569849" w="458470">
                <a:moveTo>
                  <a:pt x="458343" y="0"/>
                </a:moveTo>
                <a:lnTo>
                  <a:pt x="331851" y="0"/>
                </a:lnTo>
                <a:lnTo>
                  <a:pt x="331851" y="322707"/>
                </a:lnTo>
                <a:lnTo>
                  <a:pt x="325120" y="387223"/>
                </a:lnTo>
                <a:lnTo>
                  <a:pt x="305308" y="432689"/>
                </a:lnTo>
                <a:lnTo>
                  <a:pt x="272923" y="459486"/>
                </a:lnTo>
                <a:lnTo>
                  <a:pt x="228727" y="468249"/>
                </a:lnTo>
                <a:lnTo>
                  <a:pt x="185547" y="459105"/>
                </a:lnTo>
                <a:lnTo>
                  <a:pt x="153670" y="431673"/>
                </a:lnTo>
                <a:lnTo>
                  <a:pt x="133985" y="386207"/>
                </a:lnTo>
                <a:lnTo>
                  <a:pt x="127254" y="322707"/>
                </a:lnTo>
                <a:lnTo>
                  <a:pt x="127254" y="0"/>
                </a:lnTo>
                <a:lnTo>
                  <a:pt x="0" y="0"/>
                </a:lnTo>
                <a:lnTo>
                  <a:pt x="0" y="312801"/>
                </a:lnTo>
                <a:lnTo>
                  <a:pt x="5080" y="383413"/>
                </a:lnTo>
                <a:lnTo>
                  <a:pt x="19812" y="441960"/>
                </a:lnTo>
                <a:lnTo>
                  <a:pt x="43942" y="489077"/>
                </a:lnTo>
                <a:lnTo>
                  <a:pt x="76962" y="525018"/>
                </a:lnTo>
                <a:lnTo>
                  <a:pt x="118364" y="550164"/>
                </a:lnTo>
                <a:lnTo>
                  <a:pt x="167767" y="565023"/>
                </a:lnTo>
                <a:lnTo>
                  <a:pt x="224790" y="569849"/>
                </a:lnTo>
                <a:lnTo>
                  <a:pt x="283845" y="564769"/>
                </a:lnTo>
                <a:lnTo>
                  <a:pt x="335153" y="549529"/>
                </a:lnTo>
                <a:lnTo>
                  <a:pt x="378206" y="523875"/>
                </a:lnTo>
                <a:lnTo>
                  <a:pt x="412623" y="487680"/>
                </a:lnTo>
                <a:lnTo>
                  <a:pt x="437769" y="440817"/>
                </a:lnTo>
                <a:lnTo>
                  <a:pt x="453263" y="383159"/>
                </a:lnTo>
                <a:lnTo>
                  <a:pt x="458470" y="314579"/>
                </a:lnTo>
                <a:lnTo>
                  <a:pt x="4584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66" name="Google Shape;166;p8"/>
          <p:cNvSpPr/>
          <p:nvPr/>
        </p:nvSpPr>
        <p:spPr>
          <a:xfrm>
            <a:off x="2585521" y="9311467"/>
            <a:ext cx="333244" cy="434315"/>
          </a:xfrm>
          <a:custGeom>
            <a:rect b="b" l="l" r="r" t="t"/>
            <a:pathLst>
              <a:path extrusionOk="0" h="434315" w="333244">
                <a:moveTo>
                  <a:pt x="0" y="0"/>
                </a:moveTo>
                <a:lnTo>
                  <a:pt x="333245" y="0"/>
                </a:lnTo>
                <a:lnTo>
                  <a:pt x="333245" y="434315"/>
                </a:lnTo>
                <a:lnTo>
                  <a:pt x="0" y="4343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8"/>
          <p:cNvSpPr/>
          <p:nvPr/>
        </p:nvSpPr>
        <p:spPr>
          <a:xfrm>
            <a:off x="2871762" y="9202268"/>
            <a:ext cx="102108" cy="102108"/>
          </a:xfrm>
          <a:custGeom>
            <a:rect b="b" l="l" r="r" t="t"/>
            <a:pathLst>
              <a:path extrusionOk="0" h="136144" w="136144">
                <a:moveTo>
                  <a:pt x="0" y="0"/>
                </a:moveTo>
                <a:lnTo>
                  <a:pt x="136144" y="0"/>
                </a:lnTo>
                <a:lnTo>
                  <a:pt x="136144" y="136144"/>
                </a:lnTo>
                <a:lnTo>
                  <a:pt x="0" y="136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8" l="0" r="-28" t="0"/>
            </a:stretch>
          </a:blipFill>
          <a:ln>
            <a:noFill/>
          </a:ln>
        </p:spPr>
      </p:sp>
      <p:sp>
        <p:nvSpPr>
          <p:cNvPr id="168" name="Google Shape;168;p8"/>
          <p:cNvSpPr/>
          <p:nvPr/>
        </p:nvSpPr>
        <p:spPr>
          <a:xfrm>
            <a:off x="16226408" y="596752"/>
            <a:ext cx="2040445" cy="964120"/>
          </a:xfrm>
          <a:custGeom>
            <a:rect b="b" l="l" r="r" t="t"/>
            <a:pathLst>
              <a:path extrusionOk="0" h="1285494" w="2720594">
                <a:moveTo>
                  <a:pt x="2720594" y="0"/>
                </a:moveTo>
                <a:lnTo>
                  <a:pt x="0" y="0"/>
                </a:lnTo>
                <a:lnTo>
                  <a:pt x="0" y="1285494"/>
                </a:lnTo>
                <a:lnTo>
                  <a:pt x="2720594" y="1285494"/>
                </a:lnTo>
                <a:lnTo>
                  <a:pt x="2720594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169" name="Google Shape;169;p8"/>
          <p:cNvSpPr/>
          <p:nvPr/>
        </p:nvSpPr>
        <p:spPr>
          <a:xfrm>
            <a:off x="0" y="224397"/>
            <a:ext cx="5188903" cy="5143500"/>
          </a:xfrm>
          <a:custGeom>
            <a:rect b="b" l="l" r="r" t="t"/>
            <a:pathLst>
              <a:path extrusionOk="0" h="5143500" w="5188903">
                <a:moveTo>
                  <a:pt x="0" y="0"/>
                </a:moveTo>
                <a:lnTo>
                  <a:pt x="5188903" y="0"/>
                </a:lnTo>
                <a:lnTo>
                  <a:pt x="5188903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0" name="Google Shape;170;p8"/>
          <p:cNvSpPr txBox="1"/>
          <p:nvPr/>
        </p:nvSpPr>
        <p:spPr>
          <a:xfrm>
            <a:off x="3230604" y="736103"/>
            <a:ext cx="12798572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🎯Objetivo Del Proyecto</a:t>
            </a:r>
            <a:endParaRPr/>
          </a:p>
        </p:txBody>
      </p:sp>
      <p:sp>
        <p:nvSpPr>
          <p:cNvPr id="171" name="Google Shape;171;p8"/>
          <p:cNvSpPr txBox="1"/>
          <p:nvPr/>
        </p:nvSpPr>
        <p:spPr>
          <a:xfrm>
            <a:off x="514359" y="5367897"/>
            <a:ext cx="8115300" cy="37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/>
          </a:p>
          <a:p>
            <a:pPr indent="0" lvl="0" marL="0" marR="0" rtl="0" algn="just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Desarrollar una plataforma web y móvil para la gestión integral de recursos humanos y cálculo de remuneraciones, dirigida a PYMEs, que permita automatizar procesos administrativos y financieros relacionados con la documentación laboral, el control de asistencia y la generación de liquidaciones.</a:t>
            </a:r>
            <a:endParaRPr sz="1300"/>
          </a:p>
        </p:txBody>
      </p:sp>
      <p:sp>
        <p:nvSpPr>
          <p:cNvPr id="172" name="Google Shape;172;p8"/>
          <p:cNvSpPr txBox="1"/>
          <p:nvPr/>
        </p:nvSpPr>
        <p:spPr>
          <a:xfrm>
            <a:off x="9144000" y="2318210"/>
            <a:ext cx="8460825" cy="652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Objetivos Específicos</a:t>
            </a:r>
            <a:endParaRPr/>
          </a:p>
          <a:p>
            <a:pPr indent="-302260" lvl="1" marL="604519" marR="0" rtl="0" algn="just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Optimizar la gestión de la información del personal.</a:t>
            </a:r>
            <a:endParaRPr/>
          </a:p>
          <a:p>
            <a:pPr indent="-302260" lvl="1" marL="604519" marR="0" rtl="0" algn="just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Facilitar la administración y almacenamiento de documentos laborales.</a:t>
            </a:r>
            <a:endParaRPr/>
          </a:p>
          <a:p>
            <a:pPr indent="-302260" lvl="1" marL="604519" marR="0" rtl="0" algn="just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Garantizar el cálculo correcto de remuneraciones y descuentos legales.</a:t>
            </a:r>
            <a:endParaRPr/>
          </a:p>
          <a:p>
            <a:pPr indent="-302260" lvl="1" marL="604519" marR="0" rtl="0" algn="just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Mejorar el control de asistencia mediante registros digitales.</a:t>
            </a:r>
            <a:endParaRPr/>
          </a:p>
          <a:p>
            <a:pPr indent="-302260" lvl="1" marL="604519" marR="0" rtl="0" algn="just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Fortalecer la seguridad de acceso y la confidencialidad de los datos.</a:t>
            </a:r>
            <a:endParaRPr/>
          </a:p>
          <a:p>
            <a:pPr indent="-302260" lvl="1" marL="604519" marR="0" rtl="0" algn="just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Automatizar la generación de documentos laborales.</a:t>
            </a:r>
            <a:endParaRPr/>
          </a:p>
          <a:p>
            <a:pPr indent="-302260" lvl="1" marL="604519" marR="0" rtl="0" algn="just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Asegurar la disponibilidad del sistema mediante infraestructura en la nube.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/>
          <p:nvPr/>
        </p:nvSpPr>
        <p:spPr>
          <a:xfrm>
            <a:off x="661429" y="9279220"/>
            <a:ext cx="1433470" cy="464925"/>
          </a:xfrm>
          <a:custGeom>
            <a:rect b="b" l="l" r="r" t="t"/>
            <a:pathLst>
              <a:path extrusionOk="0" h="464925" w="1433470">
                <a:moveTo>
                  <a:pt x="0" y="0"/>
                </a:moveTo>
                <a:lnTo>
                  <a:pt x="1433469" y="0"/>
                </a:lnTo>
                <a:lnTo>
                  <a:pt x="1433469" y="464925"/>
                </a:lnTo>
                <a:lnTo>
                  <a:pt x="0" y="4649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9"/>
          <p:cNvSpPr/>
          <p:nvPr/>
        </p:nvSpPr>
        <p:spPr>
          <a:xfrm>
            <a:off x="2194083" y="9318328"/>
            <a:ext cx="343853" cy="427386"/>
          </a:xfrm>
          <a:custGeom>
            <a:rect b="b" l="l" r="r" t="t"/>
            <a:pathLst>
              <a:path extrusionOk="0" h="569849" w="458470">
                <a:moveTo>
                  <a:pt x="458343" y="0"/>
                </a:moveTo>
                <a:lnTo>
                  <a:pt x="331851" y="0"/>
                </a:lnTo>
                <a:lnTo>
                  <a:pt x="331851" y="322707"/>
                </a:lnTo>
                <a:lnTo>
                  <a:pt x="325120" y="387223"/>
                </a:lnTo>
                <a:lnTo>
                  <a:pt x="305308" y="432689"/>
                </a:lnTo>
                <a:lnTo>
                  <a:pt x="272923" y="459486"/>
                </a:lnTo>
                <a:lnTo>
                  <a:pt x="228727" y="468249"/>
                </a:lnTo>
                <a:lnTo>
                  <a:pt x="185547" y="459105"/>
                </a:lnTo>
                <a:lnTo>
                  <a:pt x="153670" y="431673"/>
                </a:lnTo>
                <a:lnTo>
                  <a:pt x="133985" y="386207"/>
                </a:lnTo>
                <a:lnTo>
                  <a:pt x="127254" y="322707"/>
                </a:lnTo>
                <a:lnTo>
                  <a:pt x="127254" y="0"/>
                </a:lnTo>
                <a:lnTo>
                  <a:pt x="0" y="0"/>
                </a:lnTo>
                <a:lnTo>
                  <a:pt x="0" y="312801"/>
                </a:lnTo>
                <a:lnTo>
                  <a:pt x="5080" y="383413"/>
                </a:lnTo>
                <a:lnTo>
                  <a:pt x="19812" y="441960"/>
                </a:lnTo>
                <a:lnTo>
                  <a:pt x="43942" y="489077"/>
                </a:lnTo>
                <a:lnTo>
                  <a:pt x="76962" y="525018"/>
                </a:lnTo>
                <a:lnTo>
                  <a:pt x="118364" y="550164"/>
                </a:lnTo>
                <a:lnTo>
                  <a:pt x="167767" y="565023"/>
                </a:lnTo>
                <a:lnTo>
                  <a:pt x="224790" y="569849"/>
                </a:lnTo>
                <a:lnTo>
                  <a:pt x="283845" y="564769"/>
                </a:lnTo>
                <a:lnTo>
                  <a:pt x="335153" y="549529"/>
                </a:lnTo>
                <a:lnTo>
                  <a:pt x="378206" y="523875"/>
                </a:lnTo>
                <a:lnTo>
                  <a:pt x="412623" y="487680"/>
                </a:lnTo>
                <a:lnTo>
                  <a:pt x="437769" y="440817"/>
                </a:lnTo>
                <a:lnTo>
                  <a:pt x="453263" y="383159"/>
                </a:lnTo>
                <a:lnTo>
                  <a:pt x="458470" y="314579"/>
                </a:lnTo>
                <a:lnTo>
                  <a:pt x="4584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79" name="Google Shape;179;p9"/>
          <p:cNvSpPr/>
          <p:nvPr/>
        </p:nvSpPr>
        <p:spPr>
          <a:xfrm>
            <a:off x="2585521" y="9311467"/>
            <a:ext cx="333244" cy="434315"/>
          </a:xfrm>
          <a:custGeom>
            <a:rect b="b" l="l" r="r" t="t"/>
            <a:pathLst>
              <a:path extrusionOk="0" h="434315" w="333244">
                <a:moveTo>
                  <a:pt x="0" y="0"/>
                </a:moveTo>
                <a:lnTo>
                  <a:pt x="333245" y="0"/>
                </a:lnTo>
                <a:lnTo>
                  <a:pt x="333245" y="434315"/>
                </a:lnTo>
                <a:lnTo>
                  <a:pt x="0" y="4343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" name="Google Shape;180;p9"/>
          <p:cNvSpPr/>
          <p:nvPr/>
        </p:nvSpPr>
        <p:spPr>
          <a:xfrm>
            <a:off x="2871762" y="9202268"/>
            <a:ext cx="102108" cy="102108"/>
          </a:xfrm>
          <a:custGeom>
            <a:rect b="b" l="l" r="r" t="t"/>
            <a:pathLst>
              <a:path extrusionOk="0" h="136144" w="136144">
                <a:moveTo>
                  <a:pt x="0" y="0"/>
                </a:moveTo>
                <a:lnTo>
                  <a:pt x="136144" y="0"/>
                </a:lnTo>
                <a:lnTo>
                  <a:pt x="136144" y="136144"/>
                </a:lnTo>
                <a:lnTo>
                  <a:pt x="0" y="136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8" l="0" r="-28" t="0"/>
            </a:stretch>
          </a:blipFill>
          <a:ln>
            <a:noFill/>
          </a:ln>
        </p:spPr>
      </p:sp>
      <p:sp>
        <p:nvSpPr>
          <p:cNvPr id="181" name="Google Shape;181;p9"/>
          <p:cNvSpPr/>
          <p:nvPr/>
        </p:nvSpPr>
        <p:spPr>
          <a:xfrm>
            <a:off x="16226408" y="596752"/>
            <a:ext cx="2040445" cy="964120"/>
          </a:xfrm>
          <a:custGeom>
            <a:rect b="b" l="l" r="r" t="t"/>
            <a:pathLst>
              <a:path extrusionOk="0" h="1285494" w="2720594">
                <a:moveTo>
                  <a:pt x="2720594" y="0"/>
                </a:moveTo>
                <a:lnTo>
                  <a:pt x="0" y="0"/>
                </a:lnTo>
                <a:lnTo>
                  <a:pt x="0" y="1285494"/>
                </a:lnTo>
                <a:lnTo>
                  <a:pt x="2720594" y="1285494"/>
                </a:lnTo>
                <a:lnTo>
                  <a:pt x="2720594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182" name="Google Shape;182;p9"/>
          <p:cNvSpPr/>
          <p:nvPr/>
        </p:nvSpPr>
        <p:spPr>
          <a:xfrm>
            <a:off x="11562580" y="2415910"/>
            <a:ext cx="6704298" cy="6704298"/>
          </a:xfrm>
          <a:custGeom>
            <a:rect b="b" l="l" r="r" t="t"/>
            <a:pathLst>
              <a:path extrusionOk="0" h="6704298" w="6704298">
                <a:moveTo>
                  <a:pt x="0" y="0"/>
                </a:moveTo>
                <a:lnTo>
                  <a:pt x="6704298" y="0"/>
                </a:lnTo>
                <a:lnTo>
                  <a:pt x="6704298" y="6704298"/>
                </a:lnTo>
                <a:lnTo>
                  <a:pt x="0" y="67042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9"/>
          <p:cNvSpPr txBox="1"/>
          <p:nvPr/>
        </p:nvSpPr>
        <p:spPr>
          <a:xfrm>
            <a:off x="661429" y="668052"/>
            <a:ext cx="15273071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📈 Metodologia Implementada</a:t>
            </a:r>
            <a:endParaRPr/>
          </a:p>
        </p:txBody>
      </p:sp>
      <p:sp>
        <p:nvSpPr>
          <p:cNvPr id="184" name="Google Shape;184;p9"/>
          <p:cNvSpPr txBox="1"/>
          <p:nvPr/>
        </p:nvSpPr>
        <p:spPr>
          <a:xfrm>
            <a:off x="240073" y="1611815"/>
            <a:ext cx="13110600" cy="21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desarrollo del proyecto se basó en la metodología ágil Scrum, permitiendo un trabajo colaborativo, flexible y centrado en la mejora continua.</a:t>
            </a:r>
            <a:endParaRPr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Cada sprint contempló las siguientes fases:</a:t>
            </a:r>
            <a:endParaRPr/>
          </a:p>
        </p:txBody>
      </p:sp>
      <p:sp>
        <p:nvSpPr>
          <p:cNvPr id="185" name="Google Shape;185;p9"/>
          <p:cNvSpPr txBox="1"/>
          <p:nvPr/>
        </p:nvSpPr>
        <p:spPr>
          <a:xfrm>
            <a:off x="0" y="3679528"/>
            <a:ext cx="12627000" cy="57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798" lvl="1" marL="647698" marR="0" rtl="0" algn="l">
              <a:lnSpc>
                <a:spcPct val="182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AutoNum type="arabicPeriod"/>
            </a:pPr>
            <a:r>
              <a:rPr b="1" i="1" lang="en-US" sz="2699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Planificación</a:t>
            </a:r>
            <a:r>
              <a:rPr b="0" i="1" lang="en-US" sz="26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definición de tareas y responsabilidades en Trello.</a:t>
            </a:r>
            <a:endParaRPr sz="1100"/>
          </a:p>
          <a:p>
            <a:pPr indent="-304798" lvl="1" marL="647698" marR="0" rtl="0" algn="l">
              <a:lnSpc>
                <a:spcPct val="182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AutoNum type="arabicPeriod"/>
            </a:pPr>
            <a:r>
              <a:rPr b="1" i="1" lang="en-US" sz="2699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Diseño</a:t>
            </a:r>
            <a:r>
              <a:rPr b="0" i="1" lang="en-US" sz="26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estructuración del sistema, diagramas y arquitectura.</a:t>
            </a:r>
            <a:endParaRPr sz="1100"/>
          </a:p>
          <a:p>
            <a:pPr indent="-304798" lvl="1" marL="647698" marR="0" rtl="0" algn="l">
              <a:lnSpc>
                <a:spcPct val="182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AutoNum type="arabicPeriod"/>
            </a:pPr>
            <a:r>
              <a:rPr b="1" i="1" lang="en-US" sz="2699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Desarrollo</a:t>
            </a:r>
            <a:r>
              <a:rPr b="0" i="1" lang="en-US" sz="26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codificación en Ionic/Angular (frontend) y Node.js/Express (backend).</a:t>
            </a:r>
            <a:endParaRPr sz="1100"/>
          </a:p>
          <a:p>
            <a:pPr indent="-304798" lvl="1" marL="647698" marR="0" rtl="0" algn="l">
              <a:lnSpc>
                <a:spcPct val="182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AutoNum type="arabicPeriod"/>
            </a:pPr>
            <a:r>
              <a:rPr b="1" i="1" lang="en-US" sz="2699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Integración </a:t>
            </a:r>
            <a:r>
              <a:rPr b="0" i="1" lang="en-US" sz="26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 pruebas: conexión con la base de datos PostgreSQL y testeo de funcionalidades.</a:t>
            </a:r>
            <a:endParaRPr sz="2399"/>
          </a:p>
          <a:p>
            <a:pPr indent="-304798" lvl="1" marL="647698" marR="0" rtl="0" algn="l">
              <a:lnSpc>
                <a:spcPct val="182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AutoNum type="arabicPeriod"/>
            </a:pPr>
            <a:r>
              <a:rPr b="1" i="1" lang="en-US" sz="2699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Revisión y despliegue</a:t>
            </a:r>
            <a:r>
              <a:rPr b="0" i="1" lang="en-US" sz="26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publicación del sistema en Google Cloud y evaluación de desempeño.</a:t>
            </a:r>
            <a:endParaRPr sz="110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"/>
          <p:cNvSpPr/>
          <p:nvPr/>
        </p:nvSpPr>
        <p:spPr>
          <a:xfrm>
            <a:off x="661429" y="9279220"/>
            <a:ext cx="1433470" cy="464925"/>
          </a:xfrm>
          <a:custGeom>
            <a:rect b="b" l="l" r="r" t="t"/>
            <a:pathLst>
              <a:path extrusionOk="0" h="464925" w="1433470">
                <a:moveTo>
                  <a:pt x="0" y="0"/>
                </a:moveTo>
                <a:lnTo>
                  <a:pt x="1433469" y="0"/>
                </a:lnTo>
                <a:lnTo>
                  <a:pt x="1433469" y="464925"/>
                </a:lnTo>
                <a:lnTo>
                  <a:pt x="0" y="4649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p10"/>
          <p:cNvSpPr/>
          <p:nvPr/>
        </p:nvSpPr>
        <p:spPr>
          <a:xfrm>
            <a:off x="2194083" y="9318328"/>
            <a:ext cx="343853" cy="427386"/>
          </a:xfrm>
          <a:custGeom>
            <a:rect b="b" l="l" r="r" t="t"/>
            <a:pathLst>
              <a:path extrusionOk="0" h="569849" w="458470">
                <a:moveTo>
                  <a:pt x="458343" y="0"/>
                </a:moveTo>
                <a:lnTo>
                  <a:pt x="331851" y="0"/>
                </a:lnTo>
                <a:lnTo>
                  <a:pt x="331851" y="322707"/>
                </a:lnTo>
                <a:lnTo>
                  <a:pt x="325120" y="387223"/>
                </a:lnTo>
                <a:lnTo>
                  <a:pt x="305308" y="432689"/>
                </a:lnTo>
                <a:lnTo>
                  <a:pt x="272923" y="459486"/>
                </a:lnTo>
                <a:lnTo>
                  <a:pt x="228727" y="468249"/>
                </a:lnTo>
                <a:lnTo>
                  <a:pt x="185547" y="459105"/>
                </a:lnTo>
                <a:lnTo>
                  <a:pt x="153670" y="431673"/>
                </a:lnTo>
                <a:lnTo>
                  <a:pt x="133985" y="386207"/>
                </a:lnTo>
                <a:lnTo>
                  <a:pt x="127254" y="322707"/>
                </a:lnTo>
                <a:lnTo>
                  <a:pt x="127254" y="0"/>
                </a:lnTo>
                <a:lnTo>
                  <a:pt x="0" y="0"/>
                </a:lnTo>
                <a:lnTo>
                  <a:pt x="0" y="312801"/>
                </a:lnTo>
                <a:lnTo>
                  <a:pt x="5080" y="383413"/>
                </a:lnTo>
                <a:lnTo>
                  <a:pt x="19812" y="441960"/>
                </a:lnTo>
                <a:lnTo>
                  <a:pt x="43942" y="489077"/>
                </a:lnTo>
                <a:lnTo>
                  <a:pt x="76962" y="525018"/>
                </a:lnTo>
                <a:lnTo>
                  <a:pt x="118364" y="550164"/>
                </a:lnTo>
                <a:lnTo>
                  <a:pt x="167767" y="565023"/>
                </a:lnTo>
                <a:lnTo>
                  <a:pt x="224790" y="569849"/>
                </a:lnTo>
                <a:lnTo>
                  <a:pt x="283845" y="564769"/>
                </a:lnTo>
                <a:lnTo>
                  <a:pt x="335153" y="549529"/>
                </a:lnTo>
                <a:lnTo>
                  <a:pt x="378206" y="523875"/>
                </a:lnTo>
                <a:lnTo>
                  <a:pt x="412623" y="487680"/>
                </a:lnTo>
                <a:lnTo>
                  <a:pt x="437769" y="440817"/>
                </a:lnTo>
                <a:lnTo>
                  <a:pt x="453263" y="383159"/>
                </a:lnTo>
                <a:lnTo>
                  <a:pt x="458470" y="314579"/>
                </a:lnTo>
                <a:lnTo>
                  <a:pt x="4584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92" name="Google Shape;192;p10"/>
          <p:cNvSpPr/>
          <p:nvPr/>
        </p:nvSpPr>
        <p:spPr>
          <a:xfrm>
            <a:off x="2585521" y="9311467"/>
            <a:ext cx="333244" cy="434315"/>
          </a:xfrm>
          <a:custGeom>
            <a:rect b="b" l="l" r="r" t="t"/>
            <a:pathLst>
              <a:path extrusionOk="0" h="434315" w="333244">
                <a:moveTo>
                  <a:pt x="0" y="0"/>
                </a:moveTo>
                <a:lnTo>
                  <a:pt x="333245" y="0"/>
                </a:lnTo>
                <a:lnTo>
                  <a:pt x="333245" y="434315"/>
                </a:lnTo>
                <a:lnTo>
                  <a:pt x="0" y="4343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10"/>
          <p:cNvSpPr/>
          <p:nvPr/>
        </p:nvSpPr>
        <p:spPr>
          <a:xfrm>
            <a:off x="2871762" y="9202268"/>
            <a:ext cx="102108" cy="102108"/>
          </a:xfrm>
          <a:custGeom>
            <a:rect b="b" l="l" r="r" t="t"/>
            <a:pathLst>
              <a:path extrusionOk="0" h="136144" w="136144">
                <a:moveTo>
                  <a:pt x="0" y="0"/>
                </a:moveTo>
                <a:lnTo>
                  <a:pt x="136144" y="0"/>
                </a:lnTo>
                <a:lnTo>
                  <a:pt x="136144" y="136144"/>
                </a:lnTo>
                <a:lnTo>
                  <a:pt x="0" y="136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8" l="0" r="-28" t="0"/>
            </a:stretch>
          </a:blipFill>
          <a:ln>
            <a:noFill/>
          </a:ln>
        </p:spPr>
      </p:sp>
      <p:sp>
        <p:nvSpPr>
          <p:cNvPr id="194" name="Google Shape;194;p10"/>
          <p:cNvSpPr/>
          <p:nvPr/>
        </p:nvSpPr>
        <p:spPr>
          <a:xfrm>
            <a:off x="16226408" y="596752"/>
            <a:ext cx="2040445" cy="964120"/>
          </a:xfrm>
          <a:custGeom>
            <a:rect b="b" l="l" r="r" t="t"/>
            <a:pathLst>
              <a:path extrusionOk="0" h="1285494" w="2720594">
                <a:moveTo>
                  <a:pt x="2720594" y="0"/>
                </a:moveTo>
                <a:lnTo>
                  <a:pt x="0" y="0"/>
                </a:lnTo>
                <a:lnTo>
                  <a:pt x="0" y="1285494"/>
                </a:lnTo>
                <a:lnTo>
                  <a:pt x="2720594" y="1285494"/>
                </a:lnTo>
                <a:lnTo>
                  <a:pt x="2720594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195" name="Google Shape;195;p10"/>
          <p:cNvSpPr txBox="1"/>
          <p:nvPr/>
        </p:nvSpPr>
        <p:spPr>
          <a:xfrm>
            <a:off x="661429" y="668052"/>
            <a:ext cx="15273071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📅 Tiempo asociado al proyecto</a:t>
            </a:r>
            <a:endParaRPr/>
          </a:p>
        </p:txBody>
      </p:sp>
      <p:sp>
        <p:nvSpPr>
          <p:cNvPr id="196" name="Google Shape;196;p10"/>
          <p:cNvSpPr txBox="1"/>
          <p:nvPr/>
        </p:nvSpPr>
        <p:spPr>
          <a:xfrm>
            <a:off x="0" y="1050650"/>
            <a:ext cx="9639300" cy="80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Fase 1: Planificación y Análisis</a:t>
            </a:r>
            <a:endParaRPr sz="1000"/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Se definieron los objetivos, requerimientos y roles del equipo.</a:t>
            </a:r>
            <a:endParaRPr sz="1000"/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Se organizó el trabajo con metodología Scrum y tablero en Trello.</a:t>
            </a:r>
            <a:endParaRPr sz="1000"/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Fase 2: Diseño del Sistema</a:t>
            </a:r>
            <a:endParaRPr sz="1000"/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Se diseñó la arquitectura del sistema y la base de datos en PostgreSQL.</a:t>
            </a:r>
            <a:endParaRPr sz="1000"/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Se elaboraron diagramas y estructura de carpetas para Ionic/Angular.</a:t>
            </a:r>
            <a:endParaRPr sz="1000"/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Fase 3: Desarrollo del Backend</a:t>
            </a:r>
            <a:endParaRPr sz="1000"/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Se configuró el servidor con Node.js + Express.</a:t>
            </a:r>
            <a:endParaRPr sz="1000"/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Se crearon rutas para autenticación, empleados y remuneraciones.</a:t>
            </a:r>
            <a:endParaRPr sz="1000"/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Fase 4: Desarrollo del Frontend</a:t>
            </a:r>
            <a:endParaRPr sz="1000"/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Se implementaron las vistas y componentes en Ionic + Angular.</a:t>
            </a:r>
            <a:endParaRPr sz="1000"/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Se conectó la interfaz con la API y la base de datos.</a:t>
            </a:r>
            <a:endParaRPr sz="1000"/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Fase 5: Integración y Pruebas</a:t>
            </a:r>
            <a:endParaRPr sz="1000"/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Se validó el flujo completo del sistema.</a:t>
            </a:r>
            <a:endParaRPr sz="1000"/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Se realizaron pruebas de rendimiento, seguridad y corrección de errores.</a:t>
            </a:r>
            <a:endParaRPr sz="1000"/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Fase 6: Despliegue</a:t>
            </a:r>
            <a:endParaRPr sz="1000"/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Se configuró y publicó el sistema en Google Cloud Platform.</a:t>
            </a:r>
            <a:endParaRPr sz="1000"/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Se verificó disponibilidad y funcionamiento en producción.</a:t>
            </a:r>
            <a:endParaRPr sz="1000"/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Fase 7: Presentación Final</a:t>
            </a:r>
            <a:endParaRPr sz="1000"/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b="0" i="0" lang="en-US" sz="22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elaboró la documentación técnica y exposición ante la comisión.</a:t>
            </a:r>
            <a:endParaRPr sz="1000"/>
          </a:p>
        </p:txBody>
      </p:sp>
      <p:sp>
        <p:nvSpPr>
          <p:cNvPr id="197" name="Google Shape;197;p10"/>
          <p:cNvSpPr/>
          <p:nvPr/>
        </p:nvSpPr>
        <p:spPr>
          <a:xfrm>
            <a:off x="11738261" y="1778088"/>
            <a:ext cx="6268967" cy="5054355"/>
          </a:xfrm>
          <a:custGeom>
            <a:rect b="b" l="l" r="r" t="t"/>
            <a:pathLst>
              <a:path extrusionOk="0" h="5054355" w="6268967">
                <a:moveTo>
                  <a:pt x="0" y="0"/>
                </a:moveTo>
                <a:lnTo>
                  <a:pt x="6268967" y="0"/>
                </a:lnTo>
                <a:lnTo>
                  <a:pt x="6268967" y="5054355"/>
                </a:lnTo>
                <a:lnTo>
                  <a:pt x="0" y="50543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8" name="Google Shape;198;p10"/>
          <p:cNvSpPr txBox="1"/>
          <p:nvPr/>
        </p:nvSpPr>
        <p:spPr>
          <a:xfrm>
            <a:off x="11738261" y="7041993"/>
            <a:ext cx="6528600" cy="3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📊 Resumen de la Carta Gantt</a:t>
            </a:r>
            <a:endParaRPr sz="1100"/>
          </a:p>
          <a:p>
            <a:pPr indent="0" lvl="0" marL="0" marR="0" rtl="0" algn="just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Duración total: 14 semanas.</a:t>
            </a:r>
            <a:endParaRPr sz="1100"/>
          </a:p>
          <a:p>
            <a:pPr indent="0" lvl="0" marL="0" marR="0" rtl="0" algn="just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Metodología: Scrum, con revisiones en cada sprint.</a:t>
            </a:r>
            <a:endParaRPr sz="1100"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Entregables principales: Sistema funcional, documentación técnica, presentación final.</a:t>
            </a:r>
            <a:endParaRPr sz="1100"/>
          </a:p>
          <a:p>
            <a:pPr indent="0" lvl="0" marL="0" marR="0" rtl="0" algn="just">
              <a:lnSpc>
                <a:spcPct val="10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"/>
          <p:cNvSpPr/>
          <p:nvPr/>
        </p:nvSpPr>
        <p:spPr>
          <a:xfrm>
            <a:off x="661429" y="9279220"/>
            <a:ext cx="1433470" cy="464925"/>
          </a:xfrm>
          <a:custGeom>
            <a:rect b="b" l="l" r="r" t="t"/>
            <a:pathLst>
              <a:path extrusionOk="0" h="464925" w="1433470">
                <a:moveTo>
                  <a:pt x="0" y="0"/>
                </a:moveTo>
                <a:lnTo>
                  <a:pt x="1433469" y="0"/>
                </a:lnTo>
                <a:lnTo>
                  <a:pt x="1433469" y="464925"/>
                </a:lnTo>
                <a:lnTo>
                  <a:pt x="0" y="4649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" name="Google Shape;204;p11"/>
          <p:cNvSpPr/>
          <p:nvPr/>
        </p:nvSpPr>
        <p:spPr>
          <a:xfrm>
            <a:off x="2194083" y="9318328"/>
            <a:ext cx="343853" cy="427386"/>
          </a:xfrm>
          <a:custGeom>
            <a:rect b="b" l="l" r="r" t="t"/>
            <a:pathLst>
              <a:path extrusionOk="0" h="569849" w="458470">
                <a:moveTo>
                  <a:pt x="458343" y="0"/>
                </a:moveTo>
                <a:lnTo>
                  <a:pt x="331851" y="0"/>
                </a:lnTo>
                <a:lnTo>
                  <a:pt x="331851" y="322707"/>
                </a:lnTo>
                <a:lnTo>
                  <a:pt x="325120" y="387223"/>
                </a:lnTo>
                <a:lnTo>
                  <a:pt x="305308" y="432689"/>
                </a:lnTo>
                <a:lnTo>
                  <a:pt x="272923" y="459486"/>
                </a:lnTo>
                <a:lnTo>
                  <a:pt x="228727" y="468249"/>
                </a:lnTo>
                <a:lnTo>
                  <a:pt x="185547" y="459105"/>
                </a:lnTo>
                <a:lnTo>
                  <a:pt x="153670" y="431673"/>
                </a:lnTo>
                <a:lnTo>
                  <a:pt x="133985" y="386207"/>
                </a:lnTo>
                <a:lnTo>
                  <a:pt x="127254" y="322707"/>
                </a:lnTo>
                <a:lnTo>
                  <a:pt x="127254" y="0"/>
                </a:lnTo>
                <a:lnTo>
                  <a:pt x="0" y="0"/>
                </a:lnTo>
                <a:lnTo>
                  <a:pt x="0" y="312801"/>
                </a:lnTo>
                <a:lnTo>
                  <a:pt x="5080" y="383413"/>
                </a:lnTo>
                <a:lnTo>
                  <a:pt x="19812" y="441960"/>
                </a:lnTo>
                <a:lnTo>
                  <a:pt x="43942" y="489077"/>
                </a:lnTo>
                <a:lnTo>
                  <a:pt x="76962" y="525018"/>
                </a:lnTo>
                <a:lnTo>
                  <a:pt x="118364" y="550164"/>
                </a:lnTo>
                <a:lnTo>
                  <a:pt x="167767" y="565023"/>
                </a:lnTo>
                <a:lnTo>
                  <a:pt x="224790" y="569849"/>
                </a:lnTo>
                <a:lnTo>
                  <a:pt x="283845" y="564769"/>
                </a:lnTo>
                <a:lnTo>
                  <a:pt x="335153" y="549529"/>
                </a:lnTo>
                <a:lnTo>
                  <a:pt x="378206" y="523875"/>
                </a:lnTo>
                <a:lnTo>
                  <a:pt x="412623" y="487680"/>
                </a:lnTo>
                <a:lnTo>
                  <a:pt x="437769" y="440817"/>
                </a:lnTo>
                <a:lnTo>
                  <a:pt x="453263" y="383159"/>
                </a:lnTo>
                <a:lnTo>
                  <a:pt x="458470" y="314579"/>
                </a:lnTo>
                <a:lnTo>
                  <a:pt x="4584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05" name="Google Shape;205;p11"/>
          <p:cNvSpPr/>
          <p:nvPr/>
        </p:nvSpPr>
        <p:spPr>
          <a:xfrm>
            <a:off x="2585521" y="9311467"/>
            <a:ext cx="333244" cy="434315"/>
          </a:xfrm>
          <a:custGeom>
            <a:rect b="b" l="l" r="r" t="t"/>
            <a:pathLst>
              <a:path extrusionOk="0" h="434315" w="333244">
                <a:moveTo>
                  <a:pt x="0" y="0"/>
                </a:moveTo>
                <a:lnTo>
                  <a:pt x="333245" y="0"/>
                </a:lnTo>
                <a:lnTo>
                  <a:pt x="333245" y="434315"/>
                </a:lnTo>
                <a:lnTo>
                  <a:pt x="0" y="4343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6" name="Google Shape;206;p11"/>
          <p:cNvSpPr/>
          <p:nvPr/>
        </p:nvSpPr>
        <p:spPr>
          <a:xfrm>
            <a:off x="2871762" y="9202268"/>
            <a:ext cx="102108" cy="102108"/>
          </a:xfrm>
          <a:custGeom>
            <a:rect b="b" l="l" r="r" t="t"/>
            <a:pathLst>
              <a:path extrusionOk="0" h="136144" w="136144">
                <a:moveTo>
                  <a:pt x="0" y="0"/>
                </a:moveTo>
                <a:lnTo>
                  <a:pt x="136144" y="0"/>
                </a:lnTo>
                <a:lnTo>
                  <a:pt x="136144" y="136144"/>
                </a:lnTo>
                <a:lnTo>
                  <a:pt x="0" y="136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8" l="0" r="-28" t="0"/>
            </a:stretch>
          </a:blipFill>
          <a:ln>
            <a:noFill/>
          </a:ln>
        </p:spPr>
      </p:sp>
      <p:sp>
        <p:nvSpPr>
          <p:cNvPr id="207" name="Google Shape;207;p11"/>
          <p:cNvSpPr txBox="1"/>
          <p:nvPr/>
        </p:nvSpPr>
        <p:spPr>
          <a:xfrm>
            <a:off x="2194079" y="268002"/>
            <a:ext cx="15273000" cy="6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💵 Costo Total Del Proyecto</a:t>
            </a:r>
            <a:endParaRPr/>
          </a:p>
        </p:txBody>
      </p:sp>
      <p:graphicFrame>
        <p:nvGraphicFramePr>
          <p:cNvPr id="208" name="Google Shape;208;p11"/>
          <p:cNvGraphicFramePr/>
          <p:nvPr/>
        </p:nvGraphicFramePr>
        <p:xfrm>
          <a:off x="6178425" y="94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{E96A98C3-E651-48E6-B59C-8FCAB6477369}</a:tableStyleId>
              </a:tblPr>
              <a:tblGrid>
                <a:gridCol w="2254575"/>
                <a:gridCol w="2576625"/>
                <a:gridCol w="2116500"/>
                <a:gridCol w="1794425"/>
                <a:gridCol w="2392525"/>
              </a:tblGrid>
              <a:tr h="498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Categoría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Detalle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Cantidad / Periodo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Costo Unitario (CLP)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Costo Total (CLP)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6FA8DC"/>
                    </a:solidFill>
                  </a:tcPr>
                </a:tc>
              </a:tr>
              <a:tr h="867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Recursos Humanos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2 desarrolladores (250 horas en total)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250 horas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4.000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1.000.000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</a:tr>
              <a:tr h="6889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Recursos de Hardware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2 computadores portátiles (Intel i5, 8GB RAM, 512GB SSD)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2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600.000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1.200.000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</a:tr>
              <a:tr h="715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Recursos de Hardware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Teléfono móvil Android gama media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1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250.000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250.000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</a:tr>
              <a:tr h="563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Recursos de Hardware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Teléfono móvil iOS gama media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1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350.000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350.000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</a:tr>
              <a:tr h="563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Recursos de Hardware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Router Wi-Fi e internet (3 meses)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1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30.000 × 3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90.000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</a:tr>
              <a:tr h="849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Recursos de Hardware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Periféricos (mouse, teclado, auriculares, adaptadores)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2 sets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40.000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80.000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</a:tr>
              <a:tr h="640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Recursos Tecnológicos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Google Cloud Platform (3 meses de uso)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3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30.000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90.000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</a:tr>
              <a:tr h="1057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Recursos Tecnológicos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Herramientas de desarrollo open source (VS Code, Node.js, Angular, PostgreSQL)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-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0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0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</a:tr>
              <a:tr h="664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Recursos Tecnológicos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Herramientas de diseño gratuitas (Canva, Figma)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-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0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0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</a:tr>
              <a:tr h="640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Recursos Tecnológicos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Control de versiones y gestión (GitHub, Trello)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-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0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0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</a:tr>
              <a:tr h="331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TOTAL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 </a:t>
                      </a:r>
                      <a:endParaRPr b="1"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 </a:t>
                      </a:r>
                      <a:endParaRPr b="1"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 </a:t>
                      </a:r>
                      <a:endParaRPr b="1"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3.060.000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00FF00"/>
                    </a:solidFill>
                  </a:tcPr>
                </a:tc>
              </a:tr>
              <a:tr h="331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UTILIDAD (50%)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 </a:t>
                      </a:r>
                      <a:endParaRPr b="1"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 </a:t>
                      </a:r>
                      <a:endParaRPr b="1"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 </a:t>
                      </a:r>
                      <a:endParaRPr b="1"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1.530.000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00FF00"/>
                    </a:solidFill>
                  </a:tcPr>
                </a:tc>
              </a:tr>
              <a:tr h="563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PRECIO FINAL ESTIMADO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 </a:t>
                      </a:r>
                      <a:endParaRPr b="1"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 </a:t>
                      </a:r>
                      <a:endParaRPr b="1"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 </a:t>
                      </a:r>
                      <a:endParaRPr b="1"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200"/>
                        <a:t>4.590.000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209" name="Google Shape;209;p11"/>
          <p:cNvSpPr txBox="1"/>
          <p:nvPr/>
        </p:nvSpPr>
        <p:spPr>
          <a:xfrm>
            <a:off x="285750" y="1066800"/>
            <a:ext cx="5505600" cy="73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dk1"/>
                </a:solidFill>
              </a:rPr>
              <a:t>Los costos del proyecto, donde la mayor inversión corresponde al hardware necesario para desarrollar y probar el sistema en cual gracias al uso de herramientas gratuitas, los costos tecnológicos fueron mínimos. </a:t>
            </a:r>
            <a:endParaRPr sz="53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"/>
          <p:cNvSpPr/>
          <p:nvPr/>
        </p:nvSpPr>
        <p:spPr>
          <a:xfrm>
            <a:off x="661429" y="9279220"/>
            <a:ext cx="1433470" cy="464925"/>
          </a:xfrm>
          <a:custGeom>
            <a:rect b="b" l="l" r="r" t="t"/>
            <a:pathLst>
              <a:path extrusionOk="0" h="464925" w="1433470">
                <a:moveTo>
                  <a:pt x="0" y="0"/>
                </a:moveTo>
                <a:lnTo>
                  <a:pt x="1433469" y="0"/>
                </a:lnTo>
                <a:lnTo>
                  <a:pt x="1433469" y="464925"/>
                </a:lnTo>
                <a:lnTo>
                  <a:pt x="0" y="4649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5" name="Google Shape;215;p13"/>
          <p:cNvSpPr/>
          <p:nvPr/>
        </p:nvSpPr>
        <p:spPr>
          <a:xfrm>
            <a:off x="2194083" y="9318328"/>
            <a:ext cx="343853" cy="427386"/>
          </a:xfrm>
          <a:custGeom>
            <a:rect b="b" l="l" r="r" t="t"/>
            <a:pathLst>
              <a:path extrusionOk="0" h="569849" w="458470">
                <a:moveTo>
                  <a:pt x="458343" y="0"/>
                </a:moveTo>
                <a:lnTo>
                  <a:pt x="331851" y="0"/>
                </a:lnTo>
                <a:lnTo>
                  <a:pt x="331851" y="322707"/>
                </a:lnTo>
                <a:lnTo>
                  <a:pt x="325120" y="387223"/>
                </a:lnTo>
                <a:lnTo>
                  <a:pt x="305308" y="432689"/>
                </a:lnTo>
                <a:lnTo>
                  <a:pt x="272923" y="459486"/>
                </a:lnTo>
                <a:lnTo>
                  <a:pt x="228727" y="468249"/>
                </a:lnTo>
                <a:lnTo>
                  <a:pt x="185547" y="459105"/>
                </a:lnTo>
                <a:lnTo>
                  <a:pt x="153670" y="431673"/>
                </a:lnTo>
                <a:lnTo>
                  <a:pt x="133985" y="386207"/>
                </a:lnTo>
                <a:lnTo>
                  <a:pt x="127254" y="322707"/>
                </a:lnTo>
                <a:lnTo>
                  <a:pt x="127254" y="0"/>
                </a:lnTo>
                <a:lnTo>
                  <a:pt x="0" y="0"/>
                </a:lnTo>
                <a:lnTo>
                  <a:pt x="0" y="312801"/>
                </a:lnTo>
                <a:lnTo>
                  <a:pt x="5080" y="383413"/>
                </a:lnTo>
                <a:lnTo>
                  <a:pt x="19812" y="441960"/>
                </a:lnTo>
                <a:lnTo>
                  <a:pt x="43942" y="489077"/>
                </a:lnTo>
                <a:lnTo>
                  <a:pt x="76962" y="525018"/>
                </a:lnTo>
                <a:lnTo>
                  <a:pt x="118364" y="550164"/>
                </a:lnTo>
                <a:lnTo>
                  <a:pt x="167767" y="565023"/>
                </a:lnTo>
                <a:lnTo>
                  <a:pt x="224790" y="569849"/>
                </a:lnTo>
                <a:lnTo>
                  <a:pt x="283845" y="564769"/>
                </a:lnTo>
                <a:lnTo>
                  <a:pt x="335153" y="549529"/>
                </a:lnTo>
                <a:lnTo>
                  <a:pt x="378206" y="523875"/>
                </a:lnTo>
                <a:lnTo>
                  <a:pt x="412623" y="487680"/>
                </a:lnTo>
                <a:lnTo>
                  <a:pt x="437769" y="440817"/>
                </a:lnTo>
                <a:lnTo>
                  <a:pt x="453263" y="383159"/>
                </a:lnTo>
                <a:lnTo>
                  <a:pt x="458470" y="314579"/>
                </a:lnTo>
                <a:lnTo>
                  <a:pt x="4584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16" name="Google Shape;216;p13"/>
          <p:cNvSpPr/>
          <p:nvPr/>
        </p:nvSpPr>
        <p:spPr>
          <a:xfrm>
            <a:off x="2585521" y="9311467"/>
            <a:ext cx="333244" cy="434315"/>
          </a:xfrm>
          <a:custGeom>
            <a:rect b="b" l="l" r="r" t="t"/>
            <a:pathLst>
              <a:path extrusionOk="0" h="434315" w="333244">
                <a:moveTo>
                  <a:pt x="0" y="0"/>
                </a:moveTo>
                <a:lnTo>
                  <a:pt x="333245" y="0"/>
                </a:lnTo>
                <a:lnTo>
                  <a:pt x="333245" y="434315"/>
                </a:lnTo>
                <a:lnTo>
                  <a:pt x="0" y="4343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13"/>
          <p:cNvSpPr/>
          <p:nvPr/>
        </p:nvSpPr>
        <p:spPr>
          <a:xfrm>
            <a:off x="2871762" y="9202268"/>
            <a:ext cx="102108" cy="102108"/>
          </a:xfrm>
          <a:custGeom>
            <a:rect b="b" l="l" r="r" t="t"/>
            <a:pathLst>
              <a:path extrusionOk="0" h="136144" w="136144">
                <a:moveTo>
                  <a:pt x="0" y="0"/>
                </a:moveTo>
                <a:lnTo>
                  <a:pt x="136144" y="0"/>
                </a:lnTo>
                <a:lnTo>
                  <a:pt x="136144" y="136144"/>
                </a:lnTo>
                <a:lnTo>
                  <a:pt x="0" y="136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8" l="0" r="-28" t="0"/>
            </a:stretch>
          </a:blipFill>
          <a:ln>
            <a:noFill/>
          </a:ln>
        </p:spPr>
      </p:sp>
      <p:sp>
        <p:nvSpPr>
          <p:cNvPr id="218" name="Google Shape;218;p13"/>
          <p:cNvSpPr/>
          <p:nvPr/>
        </p:nvSpPr>
        <p:spPr>
          <a:xfrm>
            <a:off x="16226408" y="596752"/>
            <a:ext cx="2040445" cy="964120"/>
          </a:xfrm>
          <a:custGeom>
            <a:rect b="b" l="l" r="r" t="t"/>
            <a:pathLst>
              <a:path extrusionOk="0" h="1285494" w="2720594">
                <a:moveTo>
                  <a:pt x="2720594" y="0"/>
                </a:moveTo>
                <a:lnTo>
                  <a:pt x="0" y="0"/>
                </a:lnTo>
                <a:lnTo>
                  <a:pt x="0" y="1285494"/>
                </a:lnTo>
                <a:lnTo>
                  <a:pt x="2720594" y="1285494"/>
                </a:lnTo>
                <a:lnTo>
                  <a:pt x="2720594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219" name="Google Shape;219;p13"/>
          <p:cNvSpPr txBox="1"/>
          <p:nvPr/>
        </p:nvSpPr>
        <p:spPr>
          <a:xfrm>
            <a:off x="661429" y="668052"/>
            <a:ext cx="15273071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🛠️ (CASO DE USO) Solucion Desarrollada</a:t>
            </a:r>
            <a:endParaRPr/>
          </a:p>
        </p:txBody>
      </p:sp>
      <p:pic>
        <p:nvPicPr>
          <p:cNvPr id="220" name="Google Shape;220;p13"/>
          <p:cNvPicPr preferRelativeResize="0"/>
          <p:nvPr/>
        </p:nvPicPr>
        <p:blipFill rotWithShape="1">
          <a:blip r:embed="rId6">
            <a:alphaModFix/>
          </a:blip>
          <a:srcRect b="0" l="0" r="0" t="9747"/>
          <a:stretch/>
        </p:blipFill>
        <p:spPr>
          <a:xfrm>
            <a:off x="2127838" y="1723425"/>
            <a:ext cx="14032324" cy="759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"/>
          <p:cNvSpPr/>
          <p:nvPr/>
        </p:nvSpPr>
        <p:spPr>
          <a:xfrm>
            <a:off x="661429" y="9279220"/>
            <a:ext cx="1433470" cy="464925"/>
          </a:xfrm>
          <a:custGeom>
            <a:rect b="b" l="l" r="r" t="t"/>
            <a:pathLst>
              <a:path extrusionOk="0" h="464925" w="1433470">
                <a:moveTo>
                  <a:pt x="0" y="0"/>
                </a:moveTo>
                <a:lnTo>
                  <a:pt x="1433469" y="0"/>
                </a:lnTo>
                <a:lnTo>
                  <a:pt x="1433469" y="464925"/>
                </a:lnTo>
                <a:lnTo>
                  <a:pt x="0" y="4649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6" name="Google Shape;226;p14"/>
          <p:cNvSpPr/>
          <p:nvPr/>
        </p:nvSpPr>
        <p:spPr>
          <a:xfrm>
            <a:off x="2194083" y="9318328"/>
            <a:ext cx="343853" cy="427386"/>
          </a:xfrm>
          <a:custGeom>
            <a:rect b="b" l="l" r="r" t="t"/>
            <a:pathLst>
              <a:path extrusionOk="0" h="569849" w="458470">
                <a:moveTo>
                  <a:pt x="458343" y="0"/>
                </a:moveTo>
                <a:lnTo>
                  <a:pt x="331851" y="0"/>
                </a:lnTo>
                <a:lnTo>
                  <a:pt x="331851" y="322707"/>
                </a:lnTo>
                <a:lnTo>
                  <a:pt x="325120" y="387223"/>
                </a:lnTo>
                <a:lnTo>
                  <a:pt x="305308" y="432689"/>
                </a:lnTo>
                <a:lnTo>
                  <a:pt x="272923" y="459486"/>
                </a:lnTo>
                <a:lnTo>
                  <a:pt x="228727" y="468249"/>
                </a:lnTo>
                <a:lnTo>
                  <a:pt x="185547" y="459105"/>
                </a:lnTo>
                <a:lnTo>
                  <a:pt x="153670" y="431673"/>
                </a:lnTo>
                <a:lnTo>
                  <a:pt x="133985" y="386207"/>
                </a:lnTo>
                <a:lnTo>
                  <a:pt x="127254" y="322707"/>
                </a:lnTo>
                <a:lnTo>
                  <a:pt x="127254" y="0"/>
                </a:lnTo>
                <a:lnTo>
                  <a:pt x="0" y="0"/>
                </a:lnTo>
                <a:lnTo>
                  <a:pt x="0" y="312801"/>
                </a:lnTo>
                <a:lnTo>
                  <a:pt x="5080" y="383413"/>
                </a:lnTo>
                <a:lnTo>
                  <a:pt x="19812" y="441960"/>
                </a:lnTo>
                <a:lnTo>
                  <a:pt x="43942" y="489077"/>
                </a:lnTo>
                <a:lnTo>
                  <a:pt x="76962" y="525018"/>
                </a:lnTo>
                <a:lnTo>
                  <a:pt x="118364" y="550164"/>
                </a:lnTo>
                <a:lnTo>
                  <a:pt x="167767" y="565023"/>
                </a:lnTo>
                <a:lnTo>
                  <a:pt x="224790" y="569849"/>
                </a:lnTo>
                <a:lnTo>
                  <a:pt x="283845" y="564769"/>
                </a:lnTo>
                <a:lnTo>
                  <a:pt x="335153" y="549529"/>
                </a:lnTo>
                <a:lnTo>
                  <a:pt x="378206" y="523875"/>
                </a:lnTo>
                <a:lnTo>
                  <a:pt x="412623" y="487680"/>
                </a:lnTo>
                <a:lnTo>
                  <a:pt x="437769" y="440817"/>
                </a:lnTo>
                <a:lnTo>
                  <a:pt x="453263" y="383159"/>
                </a:lnTo>
                <a:lnTo>
                  <a:pt x="458470" y="314579"/>
                </a:lnTo>
                <a:lnTo>
                  <a:pt x="4584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27" name="Google Shape;227;p14"/>
          <p:cNvSpPr/>
          <p:nvPr/>
        </p:nvSpPr>
        <p:spPr>
          <a:xfrm>
            <a:off x="2585521" y="9311467"/>
            <a:ext cx="333244" cy="434315"/>
          </a:xfrm>
          <a:custGeom>
            <a:rect b="b" l="l" r="r" t="t"/>
            <a:pathLst>
              <a:path extrusionOk="0" h="434315" w="333244">
                <a:moveTo>
                  <a:pt x="0" y="0"/>
                </a:moveTo>
                <a:lnTo>
                  <a:pt x="333245" y="0"/>
                </a:lnTo>
                <a:lnTo>
                  <a:pt x="333245" y="434315"/>
                </a:lnTo>
                <a:lnTo>
                  <a:pt x="0" y="4343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14"/>
          <p:cNvSpPr/>
          <p:nvPr/>
        </p:nvSpPr>
        <p:spPr>
          <a:xfrm>
            <a:off x="2871762" y="9202268"/>
            <a:ext cx="102108" cy="102108"/>
          </a:xfrm>
          <a:custGeom>
            <a:rect b="b" l="l" r="r" t="t"/>
            <a:pathLst>
              <a:path extrusionOk="0" h="136144" w="136144">
                <a:moveTo>
                  <a:pt x="0" y="0"/>
                </a:moveTo>
                <a:lnTo>
                  <a:pt x="136144" y="0"/>
                </a:lnTo>
                <a:lnTo>
                  <a:pt x="136144" y="136144"/>
                </a:lnTo>
                <a:lnTo>
                  <a:pt x="0" y="136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8" l="0" r="-28" t="0"/>
            </a:stretch>
          </a:blipFill>
          <a:ln>
            <a:noFill/>
          </a:ln>
        </p:spPr>
      </p:sp>
      <p:sp>
        <p:nvSpPr>
          <p:cNvPr id="229" name="Google Shape;229;p14"/>
          <p:cNvSpPr/>
          <p:nvPr/>
        </p:nvSpPr>
        <p:spPr>
          <a:xfrm>
            <a:off x="16226408" y="596752"/>
            <a:ext cx="2040445" cy="964120"/>
          </a:xfrm>
          <a:custGeom>
            <a:rect b="b" l="l" r="r" t="t"/>
            <a:pathLst>
              <a:path extrusionOk="0" h="1285494" w="2720594">
                <a:moveTo>
                  <a:pt x="2720594" y="0"/>
                </a:moveTo>
                <a:lnTo>
                  <a:pt x="0" y="0"/>
                </a:lnTo>
                <a:lnTo>
                  <a:pt x="0" y="1285494"/>
                </a:lnTo>
                <a:lnTo>
                  <a:pt x="2720594" y="1285494"/>
                </a:lnTo>
                <a:lnTo>
                  <a:pt x="2720594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230" name="Google Shape;230;p14"/>
          <p:cNvSpPr txBox="1"/>
          <p:nvPr/>
        </p:nvSpPr>
        <p:spPr>
          <a:xfrm>
            <a:off x="187216" y="668052"/>
            <a:ext cx="15747283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🛠️ (ARQ DE LA SOLUCION) Solucion Desarrollada</a:t>
            </a:r>
            <a:endParaRPr/>
          </a:p>
        </p:txBody>
      </p:sp>
      <p:pic>
        <p:nvPicPr>
          <p:cNvPr id="231" name="Google Shape;231;p14" title="Blank diagr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8700" y="1661175"/>
            <a:ext cx="16230600" cy="7440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"/>
          <p:cNvSpPr/>
          <p:nvPr/>
        </p:nvSpPr>
        <p:spPr>
          <a:xfrm>
            <a:off x="661429" y="9279220"/>
            <a:ext cx="1433470" cy="464925"/>
          </a:xfrm>
          <a:custGeom>
            <a:rect b="b" l="l" r="r" t="t"/>
            <a:pathLst>
              <a:path extrusionOk="0" h="464925" w="1433470">
                <a:moveTo>
                  <a:pt x="0" y="0"/>
                </a:moveTo>
                <a:lnTo>
                  <a:pt x="1433469" y="0"/>
                </a:lnTo>
                <a:lnTo>
                  <a:pt x="1433469" y="464925"/>
                </a:lnTo>
                <a:lnTo>
                  <a:pt x="0" y="4649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7" name="Google Shape;237;p12"/>
          <p:cNvSpPr/>
          <p:nvPr/>
        </p:nvSpPr>
        <p:spPr>
          <a:xfrm>
            <a:off x="2194083" y="9318328"/>
            <a:ext cx="343853" cy="427386"/>
          </a:xfrm>
          <a:custGeom>
            <a:rect b="b" l="l" r="r" t="t"/>
            <a:pathLst>
              <a:path extrusionOk="0" h="569849" w="458470">
                <a:moveTo>
                  <a:pt x="458343" y="0"/>
                </a:moveTo>
                <a:lnTo>
                  <a:pt x="331851" y="0"/>
                </a:lnTo>
                <a:lnTo>
                  <a:pt x="331851" y="322707"/>
                </a:lnTo>
                <a:lnTo>
                  <a:pt x="325120" y="387223"/>
                </a:lnTo>
                <a:lnTo>
                  <a:pt x="305308" y="432689"/>
                </a:lnTo>
                <a:lnTo>
                  <a:pt x="272923" y="459486"/>
                </a:lnTo>
                <a:lnTo>
                  <a:pt x="228727" y="468249"/>
                </a:lnTo>
                <a:lnTo>
                  <a:pt x="185547" y="459105"/>
                </a:lnTo>
                <a:lnTo>
                  <a:pt x="153670" y="431673"/>
                </a:lnTo>
                <a:lnTo>
                  <a:pt x="133985" y="386207"/>
                </a:lnTo>
                <a:lnTo>
                  <a:pt x="127254" y="322707"/>
                </a:lnTo>
                <a:lnTo>
                  <a:pt x="127254" y="0"/>
                </a:lnTo>
                <a:lnTo>
                  <a:pt x="0" y="0"/>
                </a:lnTo>
                <a:lnTo>
                  <a:pt x="0" y="312801"/>
                </a:lnTo>
                <a:lnTo>
                  <a:pt x="5080" y="383413"/>
                </a:lnTo>
                <a:lnTo>
                  <a:pt x="19812" y="441960"/>
                </a:lnTo>
                <a:lnTo>
                  <a:pt x="43942" y="489077"/>
                </a:lnTo>
                <a:lnTo>
                  <a:pt x="76962" y="525018"/>
                </a:lnTo>
                <a:lnTo>
                  <a:pt x="118364" y="550164"/>
                </a:lnTo>
                <a:lnTo>
                  <a:pt x="167767" y="565023"/>
                </a:lnTo>
                <a:lnTo>
                  <a:pt x="224790" y="569849"/>
                </a:lnTo>
                <a:lnTo>
                  <a:pt x="283845" y="564769"/>
                </a:lnTo>
                <a:lnTo>
                  <a:pt x="335153" y="549529"/>
                </a:lnTo>
                <a:lnTo>
                  <a:pt x="378206" y="523875"/>
                </a:lnTo>
                <a:lnTo>
                  <a:pt x="412623" y="487680"/>
                </a:lnTo>
                <a:lnTo>
                  <a:pt x="437769" y="440817"/>
                </a:lnTo>
                <a:lnTo>
                  <a:pt x="453263" y="383159"/>
                </a:lnTo>
                <a:lnTo>
                  <a:pt x="458470" y="314579"/>
                </a:lnTo>
                <a:lnTo>
                  <a:pt x="4584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38" name="Google Shape;238;p12"/>
          <p:cNvSpPr/>
          <p:nvPr/>
        </p:nvSpPr>
        <p:spPr>
          <a:xfrm>
            <a:off x="2585521" y="9311467"/>
            <a:ext cx="333244" cy="434315"/>
          </a:xfrm>
          <a:custGeom>
            <a:rect b="b" l="l" r="r" t="t"/>
            <a:pathLst>
              <a:path extrusionOk="0" h="434315" w="333244">
                <a:moveTo>
                  <a:pt x="0" y="0"/>
                </a:moveTo>
                <a:lnTo>
                  <a:pt x="333245" y="0"/>
                </a:lnTo>
                <a:lnTo>
                  <a:pt x="333245" y="434315"/>
                </a:lnTo>
                <a:lnTo>
                  <a:pt x="0" y="4343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9" name="Google Shape;239;p12"/>
          <p:cNvSpPr/>
          <p:nvPr/>
        </p:nvSpPr>
        <p:spPr>
          <a:xfrm>
            <a:off x="2871762" y="9202268"/>
            <a:ext cx="102108" cy="102108"/>
          </a:xfrm>
          <a:custGeom>
            <a:rect b="b" l="l" r="r" t="t"/>
            <a:pathLst>
              <a:path extrusionOk="0" h="136144" w="136144">
                <a:moveTo>
                  <a:pt x="0" y="0"/>
                </a:moveTo>
                <a:lnTo>
                  <a:pt x="136144" y="0"/>
                </a:lnTo>
                <a:lnTo>
                  <a:pt x="136144" y="136144"/>
                </a:lnTo>
                <a:lnTo>
                  <a:pt x="0" y="136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8" l="0" r="-28" t="0"/>
            </a:stretch>
          </a:blipFill>
          <a:ln>
            <a:noFill/>
          </a:ln>
        </p:spPr>
      </p:sp>
      <p:sp>
        <p:nvSpPr>
          <p:cNvPr id="240" name="Google Shape;240;p12"/>
          <p:cNvSpPr/>
          <p:nvPr/>
        </p:nvSpPr>
        <p:spPr>
          <a:xfrm>
            <a:off x="16226408" y="596752"/>
            <a:ext cx="2040445" cy="964120"/>
          </a:xfrm>
          <a:custGeom>
            <a:rect b="b" l="l" r="r" t="t"/>
            <a:pathLst>
              <a:path extrusionOk="0" h="1285494" w="2720594">
                <a:moveTo>
                  <a:pt x="2720594" y="0"/>
                </a:moveTo>
                <a:lnTo>
                  <a:pt x="0" y="0"/>
                </a:lnTo>
                <a:lnTo>
                  <a:pt x="0" y="1285494"/>
                </a:lnTo>
                <a:lnTo>
                  <a:pt x="2720594" y="1285494"/>
                </a:lnTo>
                <a:lnTo>
                  <a:pt x="2720594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241" name="Google Shape;241;p12"/>
          <p:cNvSpPr txBox="1"/>
          <p:nvPr/>
        </p:nvSpPr>
        <p:spPr>
          <a:xfrm>
            <a:off x="661429" y="596752"/>
            <a:ext cx="15273000" cy="6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🛠️ Solucion Desarrollada</a:t>
            </a:r>
            <a:endParaRPr/>
          </a:p>
        </p:txBody>
      </p:sp>
      <p:pic>
        <p:nvPicPr>
          <p:cNvPr id="242" name="Google Shape;242;p12" title="Video evidencia-18-11-2025.mp4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78270" y="1344322"/>
            <a:ext cx="15009331" cy="8067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6"/>
          <p:cNvSpPr/>
          <p:nvPr/>
        </p:nvSpPr>
        <p:spPr>
          <a:xfrm>
            <a:off x="0" y="360"/>
            <a:ext cx="18285714" cy="10285763"/>
          </a:xfrm>
          <a:custGeom>
            <a:rect b="b" l="l" r="r" t="t"/>
            <a:pathLst>
              <a:path extrusionOk="0" h="13714349" w="24380952">
                <a:moveTo>
                  <a:pt x="0" y="0"/>
                </a:moveTo>
                <a:lnTo>
                  <a:pt x="24380952" y="0"/>
                </a:lnTo>
                <a:lnTo>
                  <a:pt x="24380952" y="13714349"/>
                </a:lnTo>
                <a:lnTo>
                  <a:pt x="0" y="13714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8" name="Google Shape;248;p16"/>
          <p:cNvSpPr/>
          <p:nvPr/>
        </p:nvSpPr>
        <p:spPr>
          <a:xfrm>
            <a:off x="3058" y="0"/>
            <a:ext cx="18278952" cy="10286143"/>
          </a:xfrm>
          <a:custGeom>
            <a:rect b="b" l="l" r="r" t="t"/>
            <a:pathLst>
              <a:path extrusionOk="0" h="13714857" w="24371936">
                <a:moveTo>
                  <a:pt x="0" y="0"/>
                </a:moveTo>
                <a:lnTo>
                  <a:pt x="24371936" y="0"/>
                </a:lnTo>
                <a:lnTo>
                  <a:pt x="24371936" y="13714857"/>
                </a:lnTo>
                <a:lnTo>
                  <a:pt x="0" y="137148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9" name="Google Shape;249;p16"/>
          <p:cNvSpPr/>
          <p:nvPr/>
        </p:nvSpPr>
        <p:spPr>
          <a:xfrm>
            <a:off x="4013946" y="3826243"/>
            <a:ext cx="8997411" cy="2079212"/>
          </a:xfrm>
          <a:custGeom>
            <a:rect b="b" l="l" r="r" t="t"/>
            <a:pathLst>
              <a:path extrusionOk="0" h="2772283" w="11996547">
                <a:moveTo>
                  <a:pt x="0" y="0"/>
                </a:moveTo>
                <a:lnTo>
                  <a:pt x="11996547" y="0"/>
                </a:lnTo>
                <a:lnTo>
                  <a:pt x="11996547" y="2772283"/>
                </a:lnTo>
                <a:lnTo>
                  <a:pt x="0" y="2772283"/>
                </a:lnTo>
                <a:close/>
              </a:path>
            </a:pathLst>
          </a:custGeom>
          <a:solidFill>
            <a:srgbClr val="000000">
              <a:alpha val="34509"/>
            </a:srgbClr>
          </a:solidFill>
          <a:ln>
            <a:noFill/>
          </a:ln>
        </p:spPr>
      </p:sp>
      <p:sp>
        <p:nvSpPr>
          <p:cNvPr id="250" name="Google Shape;250;p16"/>
          <p:cNvSpPr txBox="1"/>
          <p:nvPr/>
        </p:nvSpPr>
        <p:spPr>
          <a:xfrm>
            <a:off x="4360474" y="4846777"/>
            <a:ext cx="8203904" cy="774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11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Conclusión y Reflexión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7"/>
          <p:cNvSpPr/>
          <p:nvPr/>
        </p:nvSpPr>
        <p:spPr>
          <a:xfrm>
            <a:off x="661429" y="9279220"/>
            <a:ext cx="1433470" cy="464925"/>
          </a:xfrm>
          <a:custGeom>
            <a:rect b="b" l="l" r="r" t="t"/>
            <a:pathLst>
              <a:path extrusionOk="0" h="464925" w="1433470">
                <a:moveTo>
                  <a:pt x="0" y="0"/>
                </a:moveTo>
                <a:lnTo>
                  <a:pt x="1433469" y="0"/>
                </a:lnTo>
                <a:lnTo>
                  <a:pt x="1433469" y="464925"/>
                </a:lnTo>
                <a:lnTo>
                  <a:pt x="0" y="4649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6" name="Google Shape;256;p17"/>
          <p:cNvSpPr/>
          <p:nvPr/>
        </p:nvSpPr>
        <p:spPr>
          <a:xfrm>
            <a:off x="2194083" y="9318328"/>
            <a:ext cx="343853" cy="427386"/>
          </a:xfrm>
          <a:custGeom>
            <a:rect b="b" l="l" r="r" t="t"/>
            <a:pathLst>
              <a:path extrusionOk="0" h="569849" w="458470">
                <a:moveTo>
                  <a:pt x="458343" y="0"/>
                </a:moveTo>
                <a:lnTo>
                  <a:pt x="331851" y="0"/>
                </a:lnTo>
                <a:lnTo>
                  <a:pt x="331851" y="322707"/>
                </a:lnTo>
                <a:lnTo>
                  <a:pt x="325120" y="387223"/>
                </a:lnTo>
                <a:lnTo>
                  <a:pt x="305308" y="432689"/>
                </a:lnTo>
                <a:lnTo>
                  <a:pt x="272923" y="459486"/>
                </a:lnTo>
                <a:lnTo>
                  <a:pt x="228727" y="468249"/>
                </a:lnTo>
                <a:lnTo>
                  <a:pt x="185547" y="459105"/>
                </a:lnTo>
                <a:lnTo>
                  <a:pt x="153670" y="431673"/>
                </a:lnTo>
                <a:lnTo>
                  <a:pt x="133985" y="386207"/>
                </a:lnTo>
                <a:lnTo>
                  <a:pt x="127254" y="322707"/>
                </a:lnTo>
                <a:lnTo>
                  <a:pt x="127254" y="0"/>
                </a:lnTo>
                <a:lnTo>
                  <a:pt x="0" y="0"/>
                </a:lnTo>
                <a:lnTo>
                  <a:pt x="0" y="312801"/>
                </a:lnTo>
                <a:lnTo>
                  <a:pt x="5080" y="383413"/>
                </a:lnTo>
                <a:lnTo>
                  <a:pt x="19812" y="441960"/>
                </a:lnTo>
                <a:lnTo>
                  <a:pt x="43942" y="489077"/>
                </a:lnTo>
                <a:lnTo>
                  <a:pt x="76962" y="525018"/>
                </a:lnTo>
                <a:lnTo>
                  <a:pt x="118364" y="550164"/>
                </a:lnTo>
                <a:lnTo>
                  <a:pt x="167767" y="565023"/>
                </a:lnTo>
                <a:lnTo>
                  <a:pt x="224790" y="569849"/>
                </a:lnTo>
                <a:lnTo>
                  <a:pt x="283845" y="564769"/>
                </a:lnTo>
                <a:lnTo>
                  <a:pt x="335153" y="549529"/>
                </a:lnTo>
                <a:lnTo>
                  <a:pt x="378206" y="523875"/>
                </a:lnTo>
                <a:lnTo>
                  <a:pt x="412623" y="487680"/>
                </a:lnTo>
                <a:lnTo>
                  <a:pt x="437769" y="440817"/>
                </a:lnTo>
                <a:lnTo>
                  <a:pt x="453263" y="383159"/>
                </a:lnTo>
                <a:lnTo>
                  <a:pt x="458470" y="314579"/>
                </a:lnTo>
                <a:lnTo>
                  <a:pt x="4584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57" name="Google Shape;257;p17"/>
          <p:cNvSpPr/>
          <p:nvPr/>
        </p:nvSpPr>
        <p:spPr>
          <a:xfrm>
            <a:off x="2585521" y="9311467"/>
            <a:ext cx="333244" cy="434315"/>
          </a:xfrm>
          <a:custGeom>
            <a:rect b="b" l="l" r="r" t="t"/>
            <a:pathLst>
              <a:path extrusionOk="0" h="434315" w="333244">
                <a:moveTo>
                  <a:pt x="0" y="0"/>
                </a:moveTo>
                <a:lnTo>
                  <a:pt x="333245" y="0"/>
                </a:lnTo>
                <a:lnTo>
                  <a:pt x="333245" y="434315"/>
                </a:lnTo>
                <a:lnTo>
                  <a:pt x="0" y="4343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p17"/>
          <p:cNvSpPr/>
          <p:nvPr/>
        </p:nvSpPr>
        <p:spPr>
          <a:xfrm>
            <a:off x="2871762" y="9202268"/>
            <a:ext cx="102108" cy="102108"/>
          </a:xfrm>
          <a:custGeom>
            <a:rect b="b" l="l" r="r" t="t"/>
            <a:pathLst>
              <a:path extrusionOk="0" h="136144" w="136144">
                <a:moveTo>
                  <a:pt x="0" y="0"/>
                </a:moveTo>
                <a:lnTo>
                  <a:pt x="136144" y="0"/>
                </a:lnTo>
                <a:lnTo>
                  <a:pt x="136144" y="136144"/>
                </a:lnTo>
                <a:lnTo>
                  <a:pt x="0" y="136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8" l="0" r="-28" t="0"/>
            </a:stretch>
          </a:blipFill>
          <a:ln>
            <a:noFill/>
          </a:ln>
        </p:spPr>
      </p:sp>
      <p:sp>
        <p:nvSpPr>
          <p:cNvPr id="259" name="Google Shape;259;p17"/>
          <p:cNvSpPr/>
          <p:nvPr/>
        </p:nvSpPr>
        <p:spPr>
          <a:xfrm>
            <a:off x="16226408" y="596752"/>
            <a:ext cx="2040445" cy="964120"/>
          </a:xfrm>
          <a:custGeom>
            <a:rect b="b" l="l" r="r" t="t"/>
            <a:pathLst>
              <a:path extrusionOk="0" h="1285494" w="2720594">
                <a:moveTo>
                  <a:pt x="2720594" y="0"/>
                </a:moveTo>
                <a:lnTo>
                  <a:pt x="0" y="0"/>
                </a:lnTo>
                <a:lnTo>
                  <a:pt x="0" y="1285494"/>
                </a:lnTo>
                <a:lnTo>
                  <a:pt x="2720594" y="1285494"/>
                </a:lnTo>
                <a:lnTo>
                  <a:pt x="2720594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260" name="Google Shape;260;p17"/>
          <p:cNvSpPr txBox="1"/>
          <p:nvPr/>
        </p:nvSpPr>
        <p:spPr>
          <a:xfrm>
            <a:off x="661429" y="668052"/>
            <a:ext cx="15273071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Conclusión y Reflexion</a:t>
            </a:r>
            <a:endParaRPr/>
          </a:p>
        </p:txBody>
      </p:sp>
      <p:sp>
        <p:nvSpPr>
          <p:cNvPr id="261" name="Google Shape;261;p17"/>
          <p:cNvSpPr txBox="1"/>
          <p:nvPr/>
        </p:nvSpPr>
        <p:spPr>
          <a:xfrm>
            <a:off x="1028700" y="1615973"/>
            <a:ext cx="16359000" cy="75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proyecto Capstone_RH Digital permitió desarrollar una solución tecnológica integral orientada a mejorar la gestión de recursos humanos y remuneraciones en pequeñas y medianas empresas chilenas.</a:t>
            </a:r>
            <a:endParaRPr sz="1200"/>
          </a:p>
          <a:p>
            <a:pPr indent="0" lvl="0" marL="0" marR="0" rtl="0" algn="just">
              <a:lnSpc>
                <a:spcPct val="15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través del diseño e implementación de una plataforma web y una aplicación móvil, el equipo logró automatizar procesos clave como la administración de empleados, el control de asistencia, la generación de documentos laborales y el cálculo de sueldos.</a:t>
            </a:r>
            <a:endParaRPr sz="1200"/>
          </a:p>
          <a:p>
            <a:pPr indent="0" lvl="0" marL="0" marR="0" rtl="0" algn="just">
              <a:lnSpc>
                <a:spcPct val="15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correcta aplicación de la metodología ágil Scrum facilitó una organización eficiente del trabajo, permitiendo entregar resultados funcionales en cada sprint. Asimismo, el uso de tecnologías modernas —Ionic, Angular, Node.js, Express y PostgreSQL— aseguró la escalabilidad, seguridad y rendimiento del sistema.</a:t>
            </a:r>
            <a:endParaRPr sz="1200"/>
          </a:p>
          <a:p>
            <a:pPr indent="0" lvl="0" marL="0" marR="0" rtl="0" algn="just">
              <a:lnSpc>
                <a:spcPct val="15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síntesis, Capstone_RH Digital cumplió los objetivos propuestos, entregando una herramienta útil, adaptable y accesible para las PYMEs, contribuyendo a la modernización de la gestión laboral y al fortalecimiento de la transformación digital empresarial en Chile.</a:t>
            </a:r>
            <a:endParaRPr sz="1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8"/>
          <p:cNvSpPr/>
          <p:nvPr/>
        </p:nvSpPr>
        <p:spPr>
          <a:xfrm>
            <a:off x="-5775" y="596752"/>
            <a:ext cx="2040446" cy="964120"/>
          </a:xfrm>
          <a:custGeom>
            <a:rect b="b" l="l" r="r" t="t"/>
            <a:pathLst>
              <a:path extrusionOk="0" h="1285494" w="2720594">
                <a:moveTo>
                  <a:pt x="2720594" y="0"/>
                </a:moveTo>
                <a:lnTo>
                  <a:pt x="0" y="0"/>
                </a:lnTo>
                <a:lnTo>
                  <a:pt x="0" y="1285494"/>
                </a:lnTo>
                <a:lnTo>
                  <a:pt x="2720594" y="1285494"/>
                </a:lnTo>
                <a:lnTo>
                  <a:pt x="2720594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267" name="Google Shape;267;p18"/>
          <p:cNvSpPr/>
          <p:nvPr/>
        </p:nvSpPr>
        <p:spPr>
          <a:xfrm>
            <a:off x="15405859" y="9279220"/>
            <a:ext cx="1433470" cy="464925"/>
          </a:xfrm>
          <a:custGeom>
            <a:rect b="b" l="l" r="r" t="t"/>
            <a:pathLst>
              <a:path extrusionOk="0" h="464925" w="1433470">
                <a:moveTo>
                  <a:pt x="0" y="0"/>
                </a:moveTo>
                <a:lnTo>
                  <a:pt x="1433470" y="0"/>
                </a:lnTo>
                <a:lnTo>
                  <a:pt x="1433470" y="464925"/>
                </a:lnTo>
                <a:lnTo>
                  <a:pt x="0" y="4649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8" name="Google Shape;268;p18"/>
          <p:cNvSpPr/>
          <p:nvPr/>
        </p:nvSpPr>
        <p:spPr>
          <a:xfrm>
            <a:off x="16938511" y="9318328"/>
            <a:ext cx="343853" cy="427386"/>
          </a:xfrm>
          <a:custGeom>
            <a:rect b="b" l="l" r="r" t="t"/>
            <a:pathLst>
              <a:path extrusionOk="0" h="569849" w="458470">
                <a:moveTo>
                  <a:pt x="458343" y="0"/>
                </a:moveTo>
                <a:lnTo>
                  <a:pt x="331851" y="0"/>
                </a:lnTo>
                <a:lnTo>
                  <a:pt x="331851" y="322707"/>
                </a:lnTo>
                <a:lnTo>
                  <a:pt x="325120" y="387223"/>
                </a:lnTo>
                <a:lnTo>
                  <a:pt x="305308" y="432689"/>
                </a:lnTo>
                <a:lnTo>
                  <a:pt x="272923" y="459486"/>
                </a:lnTo>
                <a:lnTo>
                  <a:pt x="228727" y="468249"/>
                </a:lnTo>
                <a:lnTo>
                  <a:pt x="185547" y="459105"/>
                </a:lnTo>
                <a:lnTo>
                  <a:pt x="153670" y="431673"/>
                </a:lnTo>
                <a:lnTo>
                  <a:pt x="133985" y="386207"/>
                </a:lnTo>
                <a:lnTo>
                  <a:pt x="127254" y="322707"/>
                </a:lnTo>
                <a:lnTo>
                  <a:pt x="127254" y="0"/>
                </a:lnTo>
                <a:lnTo>
                  <a:pt x="0" y="0"/>
                </a:lnTo>
                <a:lnTo>
                  <a:pt x="0" y="312801"/>
                </a:lnTo>
                <a:lnTo>
                  <a:pt x="5080" y="383413"/>
                </a:lnTo>
                <a:lnTo>
                  <a:pt x="19812" y="441960"/>
                </a:lnTo>
                <a:lnTo>
                  <a:pt x="43942" y="489077"/>
                </a:lnTo>
                <a:lnTo>
                  <a:pt x="76962" y="525018"/>
                </a:lnTo>
                <a:lnTo>
                  <a:pt x="118364" y="550164"/>
                </a:lnTo>
                <a:lnTo>
                  <a:pt x="167767" y="565023"/>
                </a:lnTo>
                <a:lnTo>
                  <a:pt x="224790" y="569849"/>
                </a:lnTo>
                <a:lnTo>
                  <a:pt x="283845" y="564769"/>
                </a:lnTo>
                <a:lnTo>
                  <a:pt x="335153" y="549529"/>
                </a:lnTo>
                <a:lnTo>
                  <a:pt x="378206" y="523875"/>
                </a:lnTo>
                <a:lnTo>
                  <a:pt x="412623" y="487680"/>
                </a:lnTo>
                <a:lnTo>
                  <a:pt x="437769" y="440817"/>
                </a:lnTo>
                <a:lnTo>
                  <a:pt x="453263" y="383159"/>
                </a:lnTo>
                <a:lnTo>
                  <a:pt x="458470" y="314579"/>
                </a:lnTo>
                <a:lnTo>
                  <a:pt x="4584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69" name="Google Shape;269;p18"/>
          <p:cNvSpPr/>
          <p:nvPr/>
        </p:nvSpPr>
        <p:spPr>
          <a:xfrm>
            <a:off x="17329950" y="9311467"/>
            <a:ext cx="333244" cy="434315"/>
          </a:xfrm>
          <a:custGeom>
            <a:rect b="b" l="l" r="r" t="t"/>
            <a:pathLst>
              <a:path extrusionOk="0" h="434315" w="333244">
                <a:moveTo>
                  <a:pt x="0" y="0"/>
                </a:moveTo>
                <a:lnTo>
                  <a:pt x="333244" y="0"/>
                </a:lnTo>
                <a:lnTo>
                  <a:pt x="333244" y="434315"/>
                </a:lnTo>
                <a:lnTo>
                  <a:pt x="0" y="4343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0" name="Google Shape;270;p18"/>
          <p:cNvSpPr/>
          <p:nvPr/>
        </p:nvSpPr>
        <p:spPr>
          <a:xfrm>
            <a:off x="17616190" y="9202268"/>
            <a:ext cx="102108" cy="102108"/>
          </a:xfrm>
          <a:custGeom>
            <a:rect b="b" l="l" r="r" t="t"/>
            <a:pathLst>
              <a:path extrusionOk="0" h="136144" w="136144">
                <a:moveTo>
                  <a:pt x="0" y="0"/>
                </a:moveTo>
                <a:lnTo>
                  <a:pt x="136144" y="0"/>
                </a:lnTo>
                <a:lnTo>
                  <a:pt x="136144" y="136144"/>
                </a:lnTo>
                <a:lnTo>
                  <a:pt x="0" y="136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8" l="0" r="-28" t="0"/>
            </a:stretch>
          </a:blipFill>
          <a:ln>
            <a:noFill/>
          </a:ln>
        </p:spPr>
      </p:sp>
      <p:sp>
        <p:nvSpPr>
          <p:cNvPr id="271" name="Google Shape;271;p18"/>
          <p:cNvSpPr txBox="1"/>
          <p:nvPr/>
        </p:nvSpPr>
        <p:spPr>
          <a:xfrm>
            <a:off x="2212002" y="621364"/>
            <a:ext cx="15451191" cy="588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Conclusión y Reflexión</a:t>
            </a:r>
            <a:endParaRPr/>
          </a:p>
        </p:txBody>
      </p:sp>
      <p:sp>
        <p:nvSpPr>
          <p:cNvPr id="272" name="Google Shape;272;p18"/>
          <p:cNvSpPr txBox="1"/>
          <p:nvPr/>
        </p:nvSpPr>
        <p:spPr>
          <a:xfrm>
            <a:off x="505570" y="1872146"/>
            <a:ext cx="17110620" cy="68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8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3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experiencia adquirida durante el desarrollo de este proyecto fortaleció las competencias técnicas y profesionales del equipo, especialmente en áreas como programación full stack, trabajo colaborativo y gestión ágil de proyectos.</a:t>
            </a:r>
            <a:endParaRPr/>
          </a:p>
          <a:p>
            <a:pPr indent="0" lvl="0" marL="0" marR="0" rtl="0" algn="just">
              <a:lnSpc>
                <a:spcPct val="168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3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Cada etapa representó un desafío que impulsó el aprendizaje autónomo y la resolución de problemas en tiempo real.</a:t>
            </a:r>
            <a:endParaRPr/>
          </a:p>
          <a:p>
            <a:pPr indent="0" lvl="0" marL="0" marR="0" rtl="0" algn="just">
              <a:lnSpc>
                <a:spcPct val="168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3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Además, el proyecto demostró la importancia de la planificación, la comunicación efectiva y el uso de herramientas de apoyo como Trello y GitHub, que permitieron mantener un flujo de trabajo ordenado y transparente.</a:t>
            </a:r>
            <a:endParaRPr/>
          </a:p>
          <a:p>
            <a:pPr indent="0" lvl="0" marL="0" marR="0" rtl="0" algn="just">
              <a:lnSpc>
                <a:spcPct val="168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3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conclusión, Capstone_RH Digital no solo fue un proyecto académico, sino también una experiencia formativa que evidenció la capacidad del equipo para desarrollar soluciones reales, sostenibles y alineadas con las necesidades del entorno laboral actual.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9"/>
          <p:cNvSpPr/>
          <p:nvPr/>
        </p:nvSpPr>
        <p:spPr>
          <a:xfrm>
            <a:off x="0" y="360"/>
            <a:ext cx="18285714" cy="10285763"/>
          </a:xfrm>
          <a:custGeom>
            <a:rect b="b" l="l" r="r" t="t"/>
            <a:pathLst>
              <a:path extrusionOk="0" h="13714349" w="24380952">
                <a:moveTo>
                  <a:pt x="0" y="0"/>
                </a:moveTo>
                <a:lnTo>
                  <a:pt x="24380952" y="0"/>
                </a:lnTo>
                <a:lnTo>
                  <a:pt x="24380952" y="13714349"/>
                </a:lnTo>
                <a:lnTo>
                  <a:pt x="0" y="13714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8" name="Google Shape;278;p19"/>
          <p:cNvSpPr/>
          <p:nvPr/>
        </p:nvSpPr>
        <p:spPr>
          <a:xfrm>
            <a:off x="0" y="3038"/>
            <a:ext cx="18289904" cy="10282715"/>
          </a:xfrm>
          <a:custGeom>
            <a:rect b="b" l="l" r="r" t="t"/>
            <a:pathLst>
              <a:path extrusionOk="0" h="13710286" w="24386539">
                <a:moveTo>
                  <a:pt x="0" y="0"/>
                </a:moveTo>
                <a:lnTo>
                  <a:pt x="24386539" y="0"/>
                </a:lnTo>
                <a:lnTo>
                  <a:pt x="24386539" y="13710286"/>
                </a:lnTo>
                <a:lnTo>
                  <a:pt x="0" y="137102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9" name="Google Shape;279;p19"/>
          <p:cNvSpPr/>
          <p:nvPr/>
        </p:nvSpPr>
        <p:spPr>
          <a:xfrm>
            <a:off x="687280" y="5697493"/>
            <a:ext cx="8997411" cy="2079212"/>
          </a:xfrm>
          <a:custGeom>
            <a:rect b="b" l="l" r="r" t="t"/>
            <a:pathLst>
              <a:path extrusionOk="0" h="2772283" w="11996547">
                <a:moveTo>
                  <a:pt x="0" y="0"/>
                </a:moveTo>
                <a:lnTo>
                  <a:pt x="11996547" y="0"/>
                </a:lnTo>
                <a:lnTo>
                  <a:pt x="11996547" y="2772283"/>
                </a:lnTo>
                <a:lnTo>
                  <a:pt x="0" y="2772283"/>
                </a:lnTo>
                <a:close/>
              </a:path>
            </a:pathLst>
          </a:custGeom>
          <a:solidFill>
            <a:srgbClr val="000000">
              <a:alpha val="34509"/>
            </a:srgbClr>
          </a:solidFill>
          <a:ln>
            <a:noFill/>
          </a:ln>
        </p:spPr>
      </p:sp>
      <p:sp>
        <p:nvSpPr>
          <p:cNvPr id="280" name="Google Shape;280;p19"/>
          <p:cNvSpPr txBox="1"/>
          <p:nvPr/>
        </p:nvSpPr>
        <p:spPr>
          <a:xfrm>
            <a:off x="1796169" y="6302193"/>
            <a:ext cx="7554304" cy="690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65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Bibliografía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0"/>
          <p:cNvSpPr/>
          <p:nvPr/>
        </p:nvSpPr>
        <p:spPr>
          <a:xfrm>
            <a:off x="-5775" y="596752"/>
            <a:ext cx="2040446" cy="964120"/>
          </a:xfrm>
          <a:custGeom>
            <a:rect b="b" l="l" r="r" t="t"/>
            <a:pathLst>
              <a:path extrusionOk="0" h="1285494" w="2720594">
                <a:moveTo>
                  <a:pt x="2720594" y="0"/>
                </a:moveTo>
                <a:lnTo>
                  <a:pt x="0" y="0"/>
                </a:lnTo>
                <a:lnTo>
                  <a:pt x="0" y="1285494"/>
                </a:lnTo>
                <a:lnTo>
                  <a:pt x="2720594" y="1285494"/>
                </a:lnTo>
                <a:lnTo>
                  <a:pt x="2720594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286" name="Google Shape;286;p20"/>
          <p:cNvSpPr/>
          <p:nvPr/>
        </p:nvSpPr>
        <p:spPr>
          <a:xfrm>
            <a:off x="15405859" y="9279220"/>
            <a:ext cx="1433470" cy="464925"/>
          </a:xfrm>
          <a:custGeom>
            <a:rect b="b" l="l" r="r" t="t"/>
            <a:pathLst>
              <a:path extrusionOk="0" h="464925" w="1433470">
                <a:moveTo>
                  <a:pt x="0" y="0"/>
                </a:moveTo>
                <a:lnTo>
                  <a:pt x="1433470" y="0"/>
                </a:lnTo>
                <a:lnTo>
                  <a:pt x="1433470" y="464925"/>
                </a:lnTo>
                <a:lnTo>
                  <a:pt x="0" y="4649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7" name="Google Shape;287;p20"/>
          <p:cNvSpPr/>
          <p:nvPr/>
        </p:nvSpPr>
        <p:spPr>
          <a:xfrm>
            <a:off x="16938511" y="9318328"/>
            <a:ext cx="343853" cy="427386"/>
          </a:xfrm>
          <a:custGeom>
            <a:rect b="b" l="l" r="r" t="t"/>
            <a:pathLst>
              <a:path extrusionOk="0" h="569849" w="458470">
                <a:moveTo>
                  <a:pt x="458343" y="0"/>
                </a:moveTo>
                <a:lnTo>
                  <a:pt x="331851" y="0"/>
                </a:lnTo>
                <a:lnTo>
                  <a:pt x="331851" y="322707"/>
                </a:lnTo>
                <a:lnTo>
                  <a:pt x="325120" y="387223"/>
                </a:lnTo>
                <a:lnTo>
                  <a:pt x="305308" y="432689"/>
                </a:lnTo>
                <a:lnTo>
                  <a:pt x="272923" y="459486"/>
                </a:lnTo>
                <a:lnTo>
                  <a:pt x="228727" y="468249"/>
                </a:lnTo>
                <a:lnTo>
                  <a:pt x="185547" y="459105"/>
                </a:lnTo>
                <a:lnTo>
                  <a:pt x="153670" y="431673"/>
                </a:lnTo>
                <a:lnTo>
                  <a:pt x="133985" y="386207"/>
                </a:lnTo>
                <a:lnTo>
                  <a:pt x="127254" y="322707"/>
                </a:lnTo>
                <a:lnTo>
                  <a:pt x="127254" y="0"/>
                </a:lnTo>
                <a:lnTo>
                  <a:pt x="0" y="0"/>
                </a:lnTo>
                <a:lnTo>
                  <a:pt x="0" y="312801"/>
                </a:lnTo>
                <a:lnTo>
                  <a:pt x="5080" y="383413"/>
                </a:lnTo>
                <a:lnTo>
                  <a:pt x="19812" y="441960"/>
                </a:lnTo>
                <a:lnTo>
                  <a:pt x="43942" y="489077"/>
                </a:lnTo>
                <a:lnTo>
                  <a:pt x="76962" y="525018"/>
                </a:lnTo>
                <a:lnTo>
                  <a:pt x="118364" y="550164"/>
                </a:lnTo>
                <a:lnTo>
                  <a:pt x="167767" y="565023"/>
                </a:lnTo>
                <a:lnTo>
                  <a:pt x="224790" y="569849"/>
                </a:lnTo>
                <a:lnTo>
                  <a:pt x="283845" y="564769"/>
                </a:lnTo>
                <a:lnTo>
                  <a:pt x="335153" y="549529"/>
                </a:lnTo>
                <a:lnTo>
                  <a:pt x="378206" y="523875"/>
                </a:lnTo>
                <a:lnTo>
                  <a:pt x="412623" y="487680"/>
                </a:lnTo>
                <a:lnTo>
                  <a:pt x="437769" y="440817"/>
                </a:lnTo>
                <a:lnTo>
                  <a:pt x="453263" y="383159"/>
                </a:lnTo>
                <a:lnTo>
                  <a:pt x="458470" y="314579"/>
                </a:lnTo>
                <a:lnTo>
                  <a:pt x="4584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88" name="Google Shape;288;p20"/>
          <p:cNvSpPr/>
          <p:nvPr/>
        </p:nvSpPr>
        <p:spPr>
          <a:xfrm>
            <a:off x="17329950" y="9311467"/>
            <a:ext cx="333244" cy="434315"/>
          </a:xfrm>
          <a:custGeom>
            <a:rect b="b" l="l" r="r" t="t"/>
            <a:pathLst>
              <a:path extrusionOk="0" h="434315" w="333244">
                <a:moveTo>
                  <a:pt x="0" y="0"/>
                </a:moveTo>
                <a:lnTo>
                  <a:pt x="333244" y="0"/>
                </a:lnTo>
                <a:lnTo>
                  <a:pt x="333244" y="434315"/>
                </a:lnTo>
                <a:lnTo>
                  <a:pt x="0" y="4343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9" name="Google Shape;289;p20"/>
          <p:cNvSpPr/>
          <p:nvPr/>
        </p:nvSpPr>
        <p:spPr>
          <a:xfrm>
            <a:off x="17616190" y="9202268"/>
            <a:ext cx="102108" cy="102108"/>
          </a:xfrm>
          <a:custGeom>
            <a:rect b="b" l="l" r="r" t="t"/>
            <a:pathLst>
              <a:path extrusionOk="0" h="136144" w="136144">
                <a:moveTo>
                  <a:pt x="0" y="0"/>
                </a:moveTo>
                <a:lnTo>
                  <a:pt x="136144" y="0"/>
                </a:lnTo>
                <a:lnTo>
                  <a:pt x="136144" y="136144"/>
                </a:lnTo>
                <a:lnTo>
                  <a:pt x="0" y="136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8" l="0" r="-28" t="0"/>
            </a:stretch>
          </a:blipFill>
          <a:ln>
            <a:noFill/>
          </a:ln>
        </p:spPr>
      </p:sp>
      <p:sp>
        <p:nvSpPr>
          <p:cNvPr id="290" name="Google Shape;290;p20"/>
          <p:cNvSpPr txBox="1"/>
          <p:nvPr/>
        </p:nvSpPr>
        <p:spPr>
          <a:xfrm>
            <a:off x="2212002" y="630889"/>
            <a:ext cx="15451191" cy="690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Bibliografía</a:t>
            </a:r>
            <a:endParaRPr/>
          </a:p>
        </p:txBody>
      </p:sp>
      <p:sp>
        <p:nvSpPr>
          <p:cNvPr id="291" name="Google Shape;291;p20"/>
          <p:cNvSpPr txBox="1"/>
          <p:nvPr/>
        </p:nvSpPr>
        <p:spPr>
          <a:xfrm>
            <a:off x="2034695" y="1327316"/>
            <a:ext cx="16253400" cy="9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8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1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📘</a:t>
            </a:r>
            <a:r>
              <a:rPr b="0" i="1" lang="en-US" sz="141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 Gobierno de Chile (2024) – Apoyo y normativa para PYMEs chilenas.</a:t>
            </a:r>
            <a:endParaRPr sz="1100"/>
          </a:p>
          <a:p>
            <a:pPr indent="0" lvl="0" marL="0" marR="0" rtl="0" algn="just">
              <a:lnSpc>
                <a:spcPct val="108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1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 Ministerio de Economía, Fomento y Turismo.</a:t>
            </a:r>
            <a:endParaRPr sz="1100"/>
          </a:p>
          <a:p>
            <a:pPr indent="0" lvl="0" marL="0" marR="0" rtl="0" algn="just">
              <a:lnSpc>
                <a:spcPct val="108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1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 🔗 </a:t>
            </a:r>
            <a:r>
              <a:rPr b="0" i="1" lang="en-US" sz="1410" u="sng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https://www.economia.gob.cl/</a:t>
            </a:r>
            <a:endParaRPr sz="1100"/>
          </a:p>
          <a:p>
            <a:pPr indent="0" lvl="0" marL="0" marR="0" rtl="0" algn="just">
              <a:lnSpc>
                <a:spcPct val="108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1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🏛️ Ministerio del Trabajo y Previsión Social (2024) – Normativa laboral y previsional vigente.</a:t>
            </a:r>
            <a:endParaRPr sz="1100"/>
          </a:p>
          <a:p>
            <a:pPr indent="0" lvl="0" marL="0" marR="0" rtl="0" algn="just">
              <a:lnSpc>
                <a:spcPct val="108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1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 Dirección del Trabajo de Chile.</a:t>
            </a:r>
            <a:endParaRPr sz="1100"/>
          </a:p>
          <a:p>
            <a:pPr indent="0" lvl="0" marL="0" marR="0" rtl="0" algn="just">
              <a:lnSpc>
                <a:spcPct val="108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1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 🔗 </a:t>
            </a:r>
            <a:r>
              <a:rPr b="0" i="1" lang="en-US" sz="1410" u="sng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https://www.dt.gob.cl/</a:t>
            </a:r>
            <a:endParaRPr sz="1100"/>
          </a:p>
          <a:p>
            <a:pPr indent="0" lvl="0" marL="0" marR="0" rtl="0" algn="just">
              <a:lnSpc>
                <a:spcPct val="108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1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💼 Servicio de Impuestos Internos (SII) (2024) – Información sobre formalización y obligaciones de las PYMEs.</a:t>
            </a:r>
            <a:endParaRPr sz="1100"/>
          </a:p>
          <a:p>
            <a:pPr indent="0" lvl="0" marL="0" marR="0" rtl="0" algn="just">
              <a:lnSpc>
                <a:spcPct val="108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1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 🔗 </a:t>
            </a:r>
            <a:r>
              <a:rPr b="0" i="1" lang="en-US" sz="1410" u="sng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https://www.sii.cl/</a:t>
            </a:r>
            <a:endParaRPr sz="1100"/>
          </a:p>
          <a:p>
            <a:pPr indent="0" lvl="0" marL="0" marR="0" rtl="0" algn="just">
              <a:lnSpc>
                <a:spcPct val="108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1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🌐 Google Cloud (2024) – Documentación de Google Cloud Platform.</a:t>
            </a:r>
            <a:endParaRPr sz="1100"/>
          </a:p>
          <a:p>
            <a:pPr indent="0" lvl="0" marL="0" marR="0" rtl="0" algn="just">
              <a:lnSpc>
                <a:spcPct val="108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1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 Guía de despliegue y administración de servicios en la nube.</a:t>
            </a:r>
            <a:endParaRPr sz="1100"/>
          </a:p>
          <a:p>
            <a:pPr indent="0" lvl="0" marL="0" marR="0" rtl="0" algn="just">
              <a:lnSpc>
                <a:spcPct val="108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1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 🔗 </a:t>
            </a:r>
            <a:r>
              <a:rPr b="0" i="1" lang="en-US" sz="1410" u="sng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https://cloud.google.com/docs</a:t>
            </a:r>
            <a:endParaRPr sz="1100"/>
          </a:p>
          <a:p>
            <a:pPr indent="0" lvl="0" marL="0" marR="0" rtl="0" algn="just">
              <a:lnSpc>
                <a:spcPct val="108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1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⚙️ Ionic Framework (2024) – Documentación oficial del framework Ionic.</a:t>
            </a:r>
            <a:endParaRPr sz="1100"/>
          </a:p>
          <a:p>
            <a:pPr indent="0" lvl="0" marL="0" marR="0" rtl="0" algn="just">
              <a:lnSpc>
                <a:spcPct val="108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1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 Guía para desarrollo híbrido web y móvil.</a:t>
            </a:r>
            <a:endParaRPr sz="1100"/>
          </a:p>
          <a:p>
            <a:pPr indent="0" lvl="0" marL="0" marR="0" rtl="0" algn="just">
              <a:lnSpc>
                <a:spcPct val="108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1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 🔗 </a:t>
            </a:r>
            <a:r>
              <a:rPr b="0" i="1" lang="en-US" sz="1410" u="sng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https://ionicframework.com/docs</a:t>
            </a:r>
            <a:endParaRPr sz="1100"/>
          </a:p>
          <a:p>
            <a:pPr indent="0" lvl="0" marL="0" marR="0" rtl="0" algn="just">
              <a:lnSpc>
                <a:spcPct val="108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1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🧩 Angular (2024) – Guía de desarrollo Angular.</a:t>
            </a:r>
            <a:endParaRPr sz="1100"/>
          </a:p>
          <a:p>
            <a:pPr indent="0" lvl="0" marL="0" marR="0" rtl="0" algn="just">
              <a:lnSpc>
                <a:spcPct val="108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1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 Estructura, componentes y servicios.</a:t>
            </a:r>
            <a:endParaRPr sz="1100"/>
          </a:p>
          <a:p>
            <a:pPr indent="0" lvl="0" marL="0" marR="0" rtl="0" algn="just">
              <a:lnSpc>
                <a:spcPct val="108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1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 🔗 </a:t>
            </a:r>
            <a:r>
              <a:rPr b="0" i="1" lang="en-US" sz="1410" u="sng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https://angular.io/docs</a:t>
            </a:r>
            <a:endParaRPr sz="1100"/>
          </a:p>
          <a:p>
            <a:pPr indent="0" lvl="0" marL="0" marR="0" rtl="0" algn="just">
              <a:lnSpc>
                <a:spcPct val="108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1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💻 Node.js Foundation (2024) – Documentación de Node.js v20.</a:t>
            </a:r>
            <a:endParaRPr sz="1100"/>
          </a:p>
          <a:p>
            <a:pPr indent="0" lvl="0" marL="0" marR="0" rtl="0" algn="just">
              <a:lnSpc>
                <a:spcPct val="108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1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 Uso de Express, API REST y conexiones a bases de datos.</a:t>
            </a:r>
            <a:endParaRPr sz="1100"/>
          </a:p>
          <a:p>
            <a:pPr indent="0" lvl="0" marL="0" marR="0" rtl="0" algn="just">
              <a:lnSpc>
                <a:spcPct val="108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1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 🔗 </a:t>
            </a:r>
            <a:r>
              <a:rPr b="0" i="1" lang="en-US" sz="1410" u="sng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https://nodejs.org/en/docs</a:t>
            </a:r>
            <a:endParaRPr sz="1100"/>
          </a:p>
          <a:p>
            <a:pPr indent="0" lvl="0" marL="0" marR="0" rtl="0" algn="just">
              <a:lnSpc>
                <a:spcPct val="108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1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🧠 Express.js (2024) – Documentación del framework Express.</a:t>
            </a:r>
            <a:endParaRPr sz="1100"/>
          </a:p>
          <a:p>
            <a:pPr indent="0" lvl="0" marL="0" marR="0" rtl="0" algn="just">
              <a:lnSpc>
                <a:spcPct val="108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1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 Implementación de rutas, middlewares y autenticación JWT.</a:t>
            </a:r>
            <a:endParaRPr sz="1100"/>
          </a:p>
          <a:p>
            <a:pPr indent="0" lvl="0" marL="0" marR="0" rtl="0" algn="just">
              <a:lnSpc>
                <a:spcPct val="108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1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 🔗 </a:t>
            </a:r>
            <a:r>
              <a:rPr b="0" i="1" lang="en-US" sz="1410" u="sng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https://expressjs.com/es/</a:t>
            </a:r>
            <a:endParaRPr sz="1100"/>
          </a:p>
          <a:p>
            <a:pPr indent="0" lvl="0" marL="0" marR="0" rtl="0" algn="just">
              <a:lnSpc>
                <a:spcPct val="108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1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🗄️ PostgreSQL Global Development Group (2024) – Guía técnica de PostgreSQL.</a:t>
            </a:r>
            <a:endParaRPr sz="1100"/>
          </a:p>
          <a:p>
            <a:pPr indent="0" lvl="0" marL="0" marR="0" rtl="0" algn="just">
              <a:lnSpc>
                <a:spcPct val="108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1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 Diseño, normalización y consultas SQL.</a:t>
            </a:r>
            <a:endParaRPr sz="1100"/>
          </a:p>
          <a:p>
            <a:pPr indent="0" lvl="0" marL="0" marR="0" rtl="0" algn="just">
              <a:lnSpc>
                <a:spcPct val="108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1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 🔗 </a:t>
            </a:r>
            <a:r>
              <a:rPr b="0" i="1" lang="en-US" sz="1410" u="sng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https://www.postgresql.org/docs/</a:t>
            </a:r>
            <a:endParaRPr sz="1100"/>
          </a:p>
          <a:p>
            <a:pPr indent="0" lvl="0" marL="0" marR="0" rtl="0" algn="just">
              <a:lnSpc>
                <a:spcPct val="108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1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📈 Scrum.org (2024) – The Scrum Guide: A Guide to the Scrum Framework.</a:t>
            </a:r>
            <a:endParaRPr sz="1100"/>
          </a:p>
          <a:p>
            <a:pPr indent="0" lvl="0" marL="0" marR="0" rtl="0" algn="just">
              <a:lnSpc>
                <a:spcPct val="108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1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 Metodología ágil aplicada al desarrollo del proyecto.</a:t>
            </a:r>
            <a:endParaRPr sz="1100"/>
          </a:p>
          <a:p>
            <a:pPr indent="0" lvl="0" marL="0" marR="0" rtl="0" algn="just">
              <a:lnSpc>
                <a:spcPct val="108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1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 🔗 </a:t>
            </a:r>
            <a:r>
              <a:rPr b="0" i="1" lang="en-US" sz="1410" u="sng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https://scrumguides.org/</a:t>
            </a:r>
            <a:endParaRPr sz="1100"/>
          </a:p>
          <a:p>
            <a:pPr indent="0" lvl="0" marL="0" marR="0" rtl="0" algn="just">
              <a:lnSpc>
                <a:spcPct val="108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1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📋 Trello (2024) – Guía de gestión de proyectos ágiles.</a:t>
            </a:r>
            <a:endParaRPr sz="1100"/>
          </a:p>
          <a:p>
            <a:pPr indent="0" lvl="0" marL="0" marR="0" rtl="0" algn="just">
              <a:lnSpc>
                <a:spcPct val="108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1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 Uso de tableros, tareas y seguimiento por sprints.</a:t>
            </a:r>
            <a:endParaRPr sz="1100"/>
          </a:p>
          <a:p>
            <a:pPr indent="0" lvl="0" marL="0" marR="0" rtl="0" algn="just">
              <a:lnSpc>
                <a:spcPct val="108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1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 🔗 </a:t>
            </a:r>
            <a:r>
              <a:rPr b="0" i="1" lang="en-US" sz="1410" u="sng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https://trello.com/guide</a:t>
            </a:r>
            <a:endParaRPr sz="1100"/>
          </a:p>
          <a:p>
            <a:pPr indent="0" lvl="0" marL="0" marR="0" rtl="0" algn="just">
              <a:lnSpc>
                <a:spcPct val="108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1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🐙 GitHub Docs (2024) – Guía de control de versiones y colaboración en repositorios.</a:t>
            </a:r>
            <a:endParaRPr sz="1100"/>
          </a:p>
          <a:p>
            <a:pPr indent="0" lvl="0" marL="0" marR="0" rtl="0" algn="just">
              <a:lnSpc>
                <a:spcPct val="108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1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 🔗 </a:t>
            </a:r>
            <a:r>
              <a:rPr b="0" i="1" lang="en-US" sz="1410" u="sng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https://docs.github.com/es</a:t>
            </a:r>
            <a:endParaRPr sz="1100"/>
          </a:p>
          <a:p>
            <a:pPr indent="0" lvl="0" marL="0" marR="0" rtl="0" algn="just">
              <a:lnSpc>
                <a:spcPct val="108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1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🖌️ Canva &amp; Figma (2024) – Herramientas de diseño visual y prototipado.</a:t>
            </a:r>
            <a:endParaRPr sz="1100"/>
          </a:p>
          <a:p>
            <a:pPr indent="0" lvl="0" marL="0" marR="0" rtl="0" algn="just">
              <a:lnSpc>
                <a:spcPct val="108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1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 Aplicadas en la interfaz del proyecto Capstone_RH Digital.</a:t>
            </a:r>
            <a:endParaRPr sz="1100"/>
          </a:p>
          <a:p>
            <a:pPr indent="0" lvl="0" marL="0" marR="0" rtl="0" algn="just">
              <a:lnSpc>
                <a:spcPct val="108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1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 🔗 </a:t>
            </a:r>
            <a:r>
              <a:rPr b="0" i="1" lang="en-US" sz="1410" u="sng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  <a:hlinkClick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https://www.canva.com/</a:t>
            </a:r>
            <a:endParaRPr sz="1100"/>
          </a:p>
          <a:p>
            <a:pPr indent="0" lvl="0" marL="0" marR="0" rtl="0" algn="just">
              <a:lnSpc>
                <a:spcPct val="108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1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 🔗 </a:t>
            </a:r>
            <a:r>
              <a:rPr b="0" i="1" lang="en-US" sz="1410" u="sng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  <a:hlinkClick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Norma APA 7ma Edición.</a:t>
            </a:r>
            <a:endParaRPr sz="1100"/>
          </a:p>
          <a:p>
            <a:pPr indent="0" lvl="0" marL="0" marR="0" rtl="0" algn="just">
              <a:lnSpc>
                <a:spcPct val="108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710" u="sng" cap="none" strike="noStrike">
              <a:solidFill>
                <a:srgbClr val="244061"/>
              </a:solidFill>
              <a:latin typeface="Arial"/>
              <a:ea typeface="Arial"/>
              <a:cs typeface="Arial"/>
              <a:sym typeface="Arial"/>
              <a:hlinkClick r:id="rId20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